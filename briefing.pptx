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0" saveSubsetFonts="0">
  <p:sldMasterIdLst>
    <p:sldMasterId id="2147483648" r:id="rId100"/>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Lst>
  <p:sldSz cx="12192000" cy="6858000"/>
  <p:notesSz cx="12192000" cy="6858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00" Type="http://schemas.openxmlformats.org/officeDocument/2006/relationships/slideMaster" Target="slideMasters/slideMaster1.xml"/>
  <Relationship Id="rId101" Type="http://schemas.openxmlformats.org/officeDocument/2006/relationships/theme" Target="theme/theme1.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Layout">
    <p:spTree>
      <p:nvGrpSpPr>
        <p:cNvPr id="1" name=""/>
        <p:cNvGrpSpPr/>
        <p:nvPr/>
      </p:nvGrpSpPr>
      <p:grpSpPr>
        <a:xfrm>
          <a:off x="0" y="0"/>
          <a:ext cx="0" cy="0"/>
          <a:chOff x="0" y="0"/>
          <a:chExt cx="0" cy="0"/>
        </a:xfrm>
      </p:grpSpPr>
      <p:sp>
        <p:nvSpPr>
          <p:cNvPr id="2" name="Title"/>
          <p:cNvSpPr>
            <a:spLocks noGrp="1"/>
          </p:cNvSpPr>
          <p:nvPr>
            <p:ph type="ctrTitle"/>
          </p:nvPr>
        </p:nvSpPr>
        <p:spPr/>
        <p:txBody>
          <a:bodyPr/>
          <a:lstStyle/>
          <a:p/>
        </p:txBody>
      </p:sp>
      <p:sp>
        <p:nvSpPr>
          <p:cNvPr id="3" name="SubTitle"/>
          <p:cNvSpPr>
            <a:spLocks noGrp="1"/>
          </p:cNvSpPr>
          <p:nvPr>
            <p:ph type="subTitle" idx="1"/>
          </p:nvPr>
        </p:nvSpPr>
        <p:spPr/>
        <p:txBody>
          <a:bodyPr/>
          <a:lstStyle/>
          <a:p/>
        </p:txBody>
      </p:sp>
    </p:spTree>
  </p:cSld>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Content Slide Layou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p:txBody>
      </p:sp>
      <p:sp>
        <p:nvSpPr>
          <p:cNvPr id="3" name="Body"/>
          <p:cNvSpPr>
            <a:spLocks noGrp="1"/>
          </p:cNvSpPr>
          <p:nvPr>
            <p:ph type="body" idx="1"/>
          </p:nvPr>
        </p:nvSpPr>
        <p:spPr/>
        <p:txBody>
          <a:bodyPr/>
          <a:lstStyle/>
          <a:p/>
        </p:txBody>
      </p:sp>
    </p:spTree>
  </p:cSld>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2" Type="http://schemas.openxmlformats.org/officeDocument/2006/relationships/slideLayout" Target="../../slideLayouts/slideLayout2.xml"/>
</Relationships>

</file>

<file path=ppt/slides/_rels/slide3.xml.rels><?xml version="1.0" encoding="UTF-8" standalone="yes"?>
<Relationships xmlns="http://schemas.openxmlformats.org/package/2006/relationships">
  <Relationship Id="rId3" Type="http://schemas.openxmlformats.org/officeDocument/2006/relationships/slideLayout" Target="../../slideLayouts/slideLayout2.xml"/>
</Relationships>

</file>

<file path=ppt/slides/_rels/slide4.xml.rels><?xml version="1.0" encoding="UTF-8" standalone="yes"?>
<Relationships xmlns="http://schemas.openxmlformats.org/package/2006/relationships">
  <Relationship Id="rId4" Type="http://schemas.openxmlformats.org/officeDocument/2006/relationships/slideLayout" Target="../../slideLayouts/slideLayout2.xml"/>
</Relationships>

</file>

<file path=ppt/slides/_rels/slide5.xml.rels><?xml version="1.0" encoding="UTF-8" standalone="yes"?>
<Relationships xmlns="http://schemas.openxmlformats.org/package/2006/relationships">
  <Relationship Id="rId5" Type="http://schemas.openxmlformats.org/officeDocument/2006/relationships/slideLayout" Target="../../slideLayouts/slideLayout2.xml"/>
</Relationships>

</file>

<file path=ppt/slides/_rels/slide6.xml.rels><?xml version="1.0" encoding="UTF-8" standalone="yes"?>
<Relationships xmlns="http://schemas.openxmlformats.org/package/2006/relationships">
  <Relationship Id="rId6" Type="http://schemas.openxmlformats.org/officeDocument/2006/relationships/slideLayout" Target="../../slideLayouts/slideLayout2.xml"/>
</Relationships>

</file>

<file path=ppt/slides/_rels/slide7.xml.rels><?xml version="1.0" encoding="UTF-8" standalone="yes"?>
<Relationships xmlns="http://schemas.openxmlformats.org/package/2006/relationships">
  <Relationship Id="rId7" Type="http://schemas.openxmlformats.org/officeDocument/2006/relationships/slideLayout" Target="../../slideLayouts/slideLayout2.xml"/>
</Relationships>

</file>

<file path=ppt/slides/_rels/slide8.xml.rels><?xml version="1.0" encoding="UTF-8" standalone="yes"?>
<Relationships xmlns="http://schemas.openxmlformats.org/package/2006/relationships">
  <Relationship Id="rId8" Type="http://schemas.openxmlformats.org/officeDocument/2006/relationships/slideLayout" Target="../../slideLayouts/slideLayout2.xml"/>
</Relationships>

</file>

<file path=ppt/slides/_rels/slide9.xml.rels><?xml version="1.0" encoding="UTF-8" standalone="yes"?>
<Relationships xmlns="http://schemas.openxmlformats.org/package/2006/relationships">
  <Relationship Id="rId9" Type="http://schemas.openxmlformats.org/officeDocument/2006/relationships/slideLayout" Target="../../slideLayouts/slideLayout2.xml"/>
</Relationships>

</file>

<file path=ppt/slides/_rels/slide10.xml.rels><?xml version="1.0" encoding="UTF-8" standalone="yes"?>
<Relationships xmlns="http://schemas.openxmlformats.org/package/2006/relationships">
  <Relationship Id="rId10" Type="http://schemas.openxmlformats.org/officeDocument/2006/relationships/slideLayout" Target="../../slideLayouts/slideLayout2.xml"/>
</Relationships>

</file>

<file path=ppt/slides/_rels/slide11.xml.rels><?xml version="1.0" encoding="UTF-8" standalone="yes"?>
<Relationships xmlns="http://schemas.openxmlformats.org/package/2006/relationships">
  <Relationship Id="rId11" Type="http://schemas.openxmlformats.org/officeDocument/2006/relationships/slideLayout" Target="../../slideLayouts/slideLayout2.xml"/>
</Relationships>

</file>

<file path=ppt/slides/_rels/slide12.xml.rels><?xml version="1.0" encoding="UTF-8" standalone="yes"?>
<Relationships xmlns="http://schemas.openxmlformats.org/package/2006/relationships">
  <Relationship Id="rId12"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hape100"/>
          <p:cNvSpPr/>
          <p:nvPr/>
        </p:nvSpPr>
        <p:spPr>
          <a:xfrm>
            <a:off x="0" y="0"/>
            <a:ext cx="5029200" cy="6858000"/>
          </a:xfrm>
          <a:prstGeom prst="rect">
            <a:avLst/>
          </a:prstGeom>
          <a:solidFill>
            <a:srgbClr val="1B3A5C"/>
          </a:solidFill>
          <a:ln>
            <a:noFill/>
          </a:ln>
        </p:spPr>
      </p:sp>
      <p:sp>
        <p:nvSpPr>
          <p:cNvPr id="101" name="TextBox101"/>
          <p:cNvSpPr>
            <a:spLocks noGrp="1"/>
          </p:cNvSpPr>
          <p:nvPr/>
        </p:nvSpPr>
        <p:spPr>
          <a:xfrm>
            <a:off x="731520" y="914400"/>
            <a:ext cx="3657600" cy="2286000"/>
          </a:xfrm>
          <a:prstGeom prst="rect">
            <a:avLst/>
          </a:prstGeom>
          <a:noFill/>
        </p:spPr>
        <p:txBody>
          <a:bodyPr wrap="square" lIns="0" tIns="0" rIns="0" bIns="0"/>
          <a:p>
            <a:pPr marL="0" algn="l"/>
            <a:r>
              <a:rPr lang="zh-CN" sz="3600" b="1" dirty="0">
                <a:solidFill>
                  <a:srgbClr val="FFFFFF"/>
                </a:solidFill>
                <a:latin typeface="SimHei"/>
                <a:ea typeface="SimHei"/>
              </a:rPr>
              <a:t>巴拉圭宏观环境</a:t>
            </a:r>
          </a:p>
          <a:p>
            <a:pPr marL="0" algn="l">
              <a:spcBef>
                <a:spcPts val="400"/>
              </a:spcBef>
            </a:pPr>
            <a:r>
              <a:rPr lang="zh-CN" sz="3600" b="1" dirty="0">
                <a:solidFill>
                  <a:srgbClr val="FFFFFF"/>
                </a:solidFill>
                <a:latin typeface="SimHei"/>
                <a:ea typeface="SimHei"/>
              </a:rPr>
              <a:t>调研简报</a:t>
            </a:r>
          </a:p>
          <a:p>
            <a:pPr marL="0" algn="l">
              <a:spcBef>
                <a:spcPts val="2400"/>
              </a:spcBef>
            </a:pPr>
            <a:r>
              <a:rPr lang="zh-CN" sz="1800" b="0" dirty="0">
                <a:solidFill>
                  <a:srgbClr val="CCD5E0"/>
                </a:solidFill>
                <a:latin typeface="Microsoft YaHei"/>
                <a:ea typeface="Microsoft YaHei"/>
              </a:rPr>
              <a:t>巴拉圭简报</a:t>
            </a:r>
          </a:p>
        </p:txBody>
      </p:sp>
      <p:sp>
        <p:nvSpPr>
          <p:cNvPr id="102" name="TextBox102"/>
          <p:cNvSpPr>
            <a:spLocks noGrp="1"/>
          </p:cNvSpPr>
          <p:nvPr/>
        </p:nvSpPr>
        <p:spPr>
          <a:xfrm>
            <a:off x="5669280" y="2103120"/>
            <a:ext cx="5943600" cy="2743200"/>
          </a:xfrm>
          <a:prstGeom prst="rect">
            <a:avLst/>
          </a:prstGeom>
          <a:noFill/>
        </p:spPr>
        <p:txBody>
          <a:bodyPr wrap="square" lIns="0" tIns="0" rIns="0" bIns="0"/>
          <a:p>
            <a:pPr marL="0" algn="l"/>
            <a:r>
              <a:rPr lang="zh-CN" sz="1800" b="0" dirty="0">
                <a:solidFill>
                  <a:srgbClr val="333333"/>
                </a:solidFill>
                <a:latin typeface="Microsoft YaHei"/>
                <a:ea typeface="Microsoft YaHei"/>
              </a:rPr>
              <a:t>时间跨度：June 27 – July 4, 2026</a:t>
            </a:r>
          </a:p>
          <a:p>
            <a:pPr marL="0" algn="l">
              <a:spcBef>
                <a:spcPts val="1200"/>
              </a:spcBef>
            </a:pPr>
            <a:r>
              <a:rPr lang="zh-CN" sz="1400" b="0" dirty="0">
                <a:solidFill>
                  <a:srgbClr val="888888"/>
                </a:solidFill>
                <a:latin typeface="Microsoft YaHei"/>
                <a:ea typeface="Microsoft YaHei"/>
              </a:rPr>
              <a:t>生成日期：2026年07月04日</a:t>
            </a:r>
          </a:p>
        </p:txBody>
      </p:sp>
      <p:sp>
        <p:nvSpPr>
          <p:cNvPr id="103" name="Shape103"/>
          <p:cNvSpPr/>
          <p:nvPr/>
        </p:nvSpPr>
        <p:spPr>
          <a:xfrm>
            <a:off x="5669280" y="1828800"/>
            <a:ext cx="1097280" cy="54864"/>
          </a:xfrm>
          <a:prstGeom prst="rect">
            <a:avLst/>
          </a:prstGeom>
          <a:solidFill>
            <a:srgbClr val="C41230"/>
          </a:solidFill>
          <a:ln>
            <a:noFill/>
          </a:ln>
        </p:spPr>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hape100"/>
          <p:cNvSpPr/>
          <p:nvPr/>
        </p:nvSpPr>
        <p:spPr>
          <a:xfrm>
            <a:off x="0" y="0"/>
            <a:ext cx="12192000" cy="1005840"/>
          </a:xfrm>
          <a:prstGeom prst="rect">
            <a:avLst/>
          </a:prstGeom>
          <a:solidFill>
            <a:srgbClr val="1B3A5C"/>
          </a:solidFill>
          <a:ln>
            <a:noFill/>
          </a:ln>
        </p:spPr>
      </p:sp>
      <p:sp>
        <p:nvSpPr>
          <p:cNvPr id="101" name="TextBox101"/>
          <p:cNvSpPr>
            <a:spLocks noGrp="1"/>
          </p:cNvSpPr>
          <p:nvPr/>
        </p:nvSpPr>
        <p:spPr>
          <a:xfrm>
            <a:off x="548640" y="137160"/>
            <a:ext cx="10972800" cy="731520"/>
          </a:xfrm>
          <a:prstGeom prst="rect">
            <a:avLst/>
          </a:prstGeom>
          <a:noFill/>
        </p:spPr>
        <p:txBody>
          <a:bodyPr wrap="square" lIns="0" tIns="0" rIns="0" bIns="0"/>
          <a:p>
            <a:pPr marL="0" algn="l"/>
            <a:r>
              <a:rPr lang="zh-CN" sz="2800" b="1" dirty="0">
                <a:solidFill>
                  <a:srgbClr val="FFFFFF"/>
                </a:solidFill>
                <a:latin typeface="SimHei"/>
                <a:ea typeface="SimHei"/>
              </a:rPr>
              <a:t>简报框架</a:t>
            </a:r>
          </a:p>
        </p:txBody>
      </p:sp>
      <p:sp>
        <p:nvSpPr>
          <p:cNvPr id="102" name="TextBox102"/>
          <p:cNvSpPr>
            <a:spLocks noGrp="1"/>
          </p:cNvSpPr>
          <p:nvPr/>
        </p:nvSpPr>
        <p:spPr>
          <a:xfrm>
            <a:off x="914400" y="1005840"/>
            <a:ext cx="10058400" cy="5303520"/>
          </a:xfrm>
          <a:prstGeom prst="rect">
            <a:avLst/>
          </a:prstGeom>
          <a:noFill/>
        </p:spPr>
        <p:txBody>
          <a:bodyPr wrap="square" lIns="0" tIns="0" rIns="0" bIns="0"/>
          <a:p>
            <a:pPr marL="0" algn="l"/>
            <a:r>
              <a:rPr lang="zh-CN" sz="2000" b="1" dirty="0">
                <a:solidFill>
                  <a:srgbClr val="1B3A5C"/>
                </a:solidFill>
                <a:latin typeface="SimHei"/>
                <a:ea typeface="SimHei"/>
              </a:rPr>
              <a:t>一、宏观经济动态</a:t>
            </a:r>
          </a:p>
          <a:p>
            <a:pPr marL="0" algn="l">
              <a:spcBef>
                <a:spcPts val="200"/>
              </a:spcBef>
            </a:pPr>
            <a:r>
              <a:rPr lang="zh-CN" sz="1200" b="0" dirty="0">
                <a:solidFill>
                  <a:srgbClr val="888888"/>
                </a:solidFill>
                <a:latin typeface="Microsoft YaHei"/>
                <a:ea typeface="Microsoft YaHei"/>
              </a:rPr>
              <a:t>  国内生产总值增长、通货膨胀、汇率、货币政策、财政状况、关键行业表现</a:t>
            </a:r>
          </a:p>
          <a:p>
            <a:pPr marL="0" algn="l">
              <a:spcBef>
                <a:spcPts val="1200"/>
              </a:spcBef>
            </a:pPr>
            <a:r>
              <a:rPr lang="zh-CN" sz="2000" b="1" dirty="0">
                <a:solidFill>
                  <a:srgbClr val="1B3A5C"/>
                </a:solidFill>
                <a:latin typeface="SimHei"/>
                <a:ea typeface="SimHei"/>
              </a:rPr>
              <a:t>二、政治与政策变化</a:t>
            </a:r>
          </a:p>
          <a:p>
            <a:pPr marL="0" algn="l">
              <a:spcBef>
                <a:spcPts val="200"/>
              </a:spcBef>
            </a:pPr>
            <a:r>
              <a:rPr lang="zh-CN" sz="1200" b="0" dirty="0">
                <a:solidFill>
                  <a:srgbClr val="888888"/>
                </a:solidFill>
                <a:latin typeface="Microsoft YaHei"/>
                <a:ea typeface="Microsoft YaHei"/>
              </a:rPr>
              <a:t>  重大立法、政策调整、外资监管、税制改革、投资激励措施</a:t>
            </a:r>
          </a:p>
          <a:p>
            <a:pPr marL="0" algn="l">
              <a:spcBef>
                <a:spcPts val="1200"/>
              </a:spcBef>
            </a:pPr>
            <a:r>
              <a:rPr lang="zh-CN" sz="2000" b="1" dirty="0">
                <a:solidFill>
                  <a:srgbClr val="1B3A5C"/>
                </a:solidFill>
                <a:latin typeface="SimHei"/>
                <a:ea typeface="SimHei"/>
              </a:rPr>
              <a:t>三、社会与安全形势</a:t>
            </a:r>
          </a:p>
          <a:p>
            <a:pPr marL="0" algn="l">
              <a:spcBef>
                <a:spcPts val="200"/>
              </a:spcBef>
            </a:pPr>
            <a:r>
              <a:rPr lang="zh-CN" sz="1200" b="0" dirty="0">
                <a:solidFill>
                  <a:srgbClr val="888888"/>
                </a:solidFill>
                <a:latin typeface="Microsoft YaHei"/>
                <a:ea typeface="Microsoft YaHei"/>
              </a:rPr>
              <a:t>  劳动力市场、社会稳定、公共安全、就业数据</a:t>
            </a:r>
          </a:p>
          <a:p>
            <a:pPr marL="0" algn="l">
              <a:spcBef>
                <a:spcPts val="1200"/>
              </a:spcBef>
            </a:pPr>
            <a:r>
              <a:rPr lang="zh-CN" sz="2000" b="1" dirty="0">
                <a:solidFill>
                  <a:srgbClr val="1B3A5C"/>
                </a:solidFill>
                <a:latin typeface="SimHei"/>
                <a:ea typeface="SimHei"/>
              </a:rPr>
              <a:t>四、国际关系与外交动态</a:t>
            </a:r>
          </a:p>
          <a:p>
            <a:pPr marL="0" algn="l">
              <a:spcBef>
                <a:spcPts val="200"/>
              </a:spcBef>
            </a:pPr>
            <a:r>
              <a:rPr lang="zh-CN" sz="1200" b="0" dirty="0">
                <a:solidFill>
                  <a:srgbClr val="888888"/>
                </a:solidFill>
                <a:latin typeface="Microsoft YaHei"/>
                <a:ea typeface="Microsoft YaHei"/>
              </a:rPr>
              <a:t>  巴拉圭与大国关系、南方共同市场动态、两岸关系、多边参与</a:t>
            </a:r>
          </a:p>
          <a:p>
            <a:pPr marL="0" algn="l">
              <a:spcBef>
                <a:spcPts val="1200"/>
              </a:spcBef>
            </a:pPr>
            <a:r>
              <a:rPr lang="zh-CN" sz="2000" b="1" dirty="0">
                <a:solidFill>
                  <a:srgbClr val="1B3A5C"/>
                </a:solidFill>
                <a:latin typeface="SimHei"/>
                <a:ea typeface="SimHei"/>
              </a:rPr>
              <a:t>五、行业聚焦：电信、数字能源与人工智能</a:t>
            </a:r>
          </a:p>
          <a:p>
            <a:pPr marL="0" algn="l">
              <a:spcBef>
                <a:spcPts val="200"/>
              </a:spcBef>
            </a:pPr>
            <a:r>
              <a:rPr lang="zh-CN" sz="1200" b="0" dirty="0">
                <a:solidFill>
                  <a:srgbClr val="888888"/>
                </a:solidFill>
                <a:latin typeface="Microsoft YaHei"/>
                <a:ea typeface="Microsoft YaHei"/>
              </a:rPr>
              <a:t>  5G频谱与商用部署、光纤基础设施、数字能源投资、人工智能数据中心开发、行业监管</a:t>
            </a:r>
          </a:p>
          <a:p>
            <a:pPr marL="0" algn="l">
              <a:spcBef>
                <a:spcPts val="1200"/>
              </a:spcBef>
            </a:pPr>
            <a:r>
              <a:rPr lang="zh-CN" sz="2000" b="1" dirty="0">
                <a:solidFill>
                  <a:srgbClr val="1B3A5C"/>
                </a:solidFill>
                <a:latin typeface="SimHei"/>
                <a:ea typeface="SimHei"/>
              </a:rPr>
              <a:t>六、主要客户动态</a:t>
            </a:r>
          </a:p>
          <a:p>
            <a:pPr marL="0" algn="l">
              <a:spcBef>
                <a:spcPts val="200"/>
              </a:spcBef>
            </a:pPr>
            <a:r>
              <a:rPr lang="zh-CN" sz="1200" b="0" dirty="0">
                <a:solidFill>
                  <a:srgbClr val="888888"/>
                </a:solidFill>
                <a:latin typeface="Microsoft YaHei"/>
                <a:ea typeface="Microsoft YaHei"/>
              </a:rPr>
              <a:t>  追踪巴拉圭主要电信客户的战略动向、投资计划、网络部署及技术选型</a:t>
            </a:r>
          </a:p>
          <a:p>
            <a:pPr marL="0" algn="l">
              <a:spcBef>
                <a:spcPts val="1200"/>
              </a:spcBef>
            </a:pPr>
            <a:r>
              <a:rPr lang="zh-CN" sz="2000" b="1" dirty="0">
                <a:solidFill>
                  <a:srgbClr val="1B3A5C"/>
                </a:solidFill>
                <a:latin typeface="SimHei"/>
                <a:ea typeface="SimHei"/>
              </a:rPr>
              <a:t>七、对企业经营的综合影响分析</a:t>
            </a:r>
          </a:p>
          <a:p>
            <a:pPr marL="0" algn="l">
              <a:spcBef>
                <a:spcPts val="200"/>
              </a:spcBef>
            </a:pPr>
            <a:r>
              <a:rPr lang="zh-CN" sz="1200" b="0" dirty="0">
                <a:solidFill>
                  <a:srgbClr val="888888"/>
                </a:solidFill>
                <a:latin typeface="Microsoft YaHei"/>
                <a:ea typeface="Microsoft YaHei"/>
              </a:rPr>
              <a:t>  综合宏观趋势、行业动态及客户动向，评估巴拉圭企业运营环境</a:t>
            </a:r>
          </a:p>
          <a:p>
            <a:pPr marL="0" algn="l">
              <a:spcBef>
                <a:spcPts val="1200"/>
              </a:spcBef>
            </a:pPr>
            <a:r>
              <a:rPr lang="zh-CN" sz="2000" b="1" dirty="0">
                <a:solidFill>
                  <a:srgbClr val="1B3A5C"/>
                </a:solidFill>
                <a:latin typeface="SimHei"/>
                <a:ea typeface="SimHei"/>
              </a:rPr>
              <a:t>八、对中资企业的专项影响与建议</a:t>
            </a:r>
          </a:p>
          <a:p>
            <a:pPr marL="0" algn="l">
              <a:spcBef>
                <a:spcPts val="200"/>
              </a:spcBef>
            </a:pPr>
            <a:r>
              <a:rPr lang="zh-CN" sz="1200" b="0" dirty="0">
                <a:solidFill>
                  <a:srgbClr val="888888"/>
                </a:solidFill>
                <a:latin typeface="Microsoft YaHei"/>
                <a:ea typeface="Microsoft YaHei"/>
              </a:rPr>
              <a:t>  为中国企业在巴拉圭经营或考虑进入巴拉圭市场量身定制的分析，涵盖外交风险、政策风险及战略建议</a:t>
            </a:r>
          </a:p>
        </p:txBody>
      </p:sp>
      <p:sp>
        <p:nvSpPr>
          <p:cNvPr id="103" name="Shape103"/>
          <p:cNvSpPr/>
          <p:nvPr/>
        </p:nvSpPr>
        <p:spPr>
          <a:xfrm>
            <a:off x="0" y="6583680"/>
            <a:ext cx="12192000" cy="274320"/>
          </a:xfrm>
          <a:prstGeom prst="rect">
            <a:avLst/>
          </a:prstGeom>
          <a:solidFill>
            <a:srgbClr val="C41230"/>
          </a:solidFill>
          <a:ln>
            <a:noFill/>
          </a:ln>
        </p:spPr>
      </p:sp>
      <p:sp>
        <p:nvSpPr>
          <p:cNvPr id="104" name="TextBox104"/>
          <p:cNvSpPr>
            <a:spLocks noGrp="1"/>
          </p:cNvSpPr>
          <p:nvPr/>
        </p:nvSpPr>
        <p:spPr>
          <a:xfrm>
            <a:off x="10515600" y="6629400"/>
            <a:ext cx="1371600" cy="182880"/>
          </a:xfrm>
          <a:prstGeom prst="rect">
            <a:avLst/>
          </a:prstGeom>
          <a:noFill/>
        </p:spPr>
        <p:txBody>
          <a:bodyPr wrap="square" lIns="0" tIns="0" rIns="0" bIns="0"/>
          <a:p>
            <a:pPr marL="0" algn="r"/>
            <a:r>
              <a:rPr lang="zh-CN" sz="800" b="0" dirty="0">
                <a:solidFill>
                  <a:srgbClr val="888888"/>
                </a:solidFill>
                <a:latin typeface="Microsoft YaHei"/>
                <a:ea typeface="Microsoft YaHei"/>
              </a:rPr>
              <a:t>2 / 12</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hape100"/>
          <p:cNvSpPr/>
          <p:nvPr/>
        </p:nvSpPr>
        <p:spPr>
          <a:xfrm>
            <a:off x="0" y="0"/>
            <a:ext cx="12192000" cy="1005840"/>
          </a:xfrm>
          <a:prstGeom prst="rect">
            <a:avLst/>
          </a:prstGeom>
          <a:solidFill>
            <a:srgbClr val="1B3A5C"/>
          </a:solidFill>
          <a:ln>
            <a:noFill/>
          </a:ln>
        </p:spPr>
      </p:sp>
      <p:sp>
        <p:nvSpPr>
          <p:cNvPr id="101" name="TextBox101"/>
          <p:cNvSpPr>
            <a:spLocks noGrp="1"/>
          </p:cNvSpPr>
          <p:nvPr/>
        </p:nvSpPr>
        <p:spPr>
          <a:xfrm>
            <a:off x="548640" y="137160"/>
            <a:ext cx="10972800" cy="731520"/>
          </a:xfrm>
          <a:prstGeom prst="rect">
            <a:avLst/>
          </a:prstGeom>
          <a:noFill/>
        </p:spPr>
        <p:txBody>
          <a:bodyPr wrap="square" lIns="0" tIns="0" rIns="0" bIns="0"/>
          <a:p>
            <a:pPr marL="0" algn="l"/>
            <a:r>
              <a:rPr lang="zh-CN" sz="2800" b="1" dirty="0">
                <a:solidFill>
                  <a:srgbClr val="FFFFFF"/>
                </a:solidFill>
                <a:latin typeface="SimHei"/>
                <a:ea typeface="SimHei"/>
              </a:rPr>
              <a:t>一、宏观经济动态</a:t>
            </a:r>
          </a:p>
        </p:txBody>
      </p:sp>
      <p:sp>
        <p:nvSpPr>
          <p:cNvPr id="102" name="TextBox102"/>
          <p:cNvSpPr>
            <a:spLocks noGrp="1"/>
          </p:cNvSpPr>
          <p:nvPr/>
        </p:nvSpPr>
        <p:spPr>
          <a:xfrm>
            <a:off x="457200" y="1143000"/>
            <a:ext cx="11155680" cy="5303520"/>
          </a:xfrm>
          <a:prstGeom prst="rect">
            <a:avLst/>
          </a:prstGeom>
          <a:noFill/>
        </p:spPr>
        <p:txBody>
          <a:bodyPr wrap="square" lIns="0" tIns="0" rIns="0" bIns="0"/>
          <a:p>
            <a:pPr marL="0" algn="l"/>
            <a:r>
              <a:rPr lang="zh-CN" sz="1300" b="1" dirty="0">
                <a:solidFill>
                  <a:srgbClr val="333333"/>
                </a:solidFill>
                <a:latin typeface="Microsoft YaHei"/>
                <a:ea typeface="Microsoft YaHei"/>
              </a:rPr>
              <a:t>■ IMF完成第四条磋商访问：预测巴拉圭2026年经济增长4.4%，肯定通胀目标制的稳健性（2026年6月29日）</a:t>
            </a:r>
          </a:p>
          <a:p>
            <a:pPr marL="0" algn="l">
              <a:spcBef>
                <a:spcPts val="100"/>
              </a:spcBef>
            </a:pPr>
            <a:r>
              <a:rPr lang="zh-CN" sz="800" b="0" dirty="0">
                <a:solidFill>
                  <a:srgbClr val="888888"/>
                </a:solidFill>
                <a:latin typeface="Microsoft YaHei"/>
                <a:ea typeface="Microsoft YaHei"/>
              </a:rPr>
              <a:t>  来源: IMF  </a:t>
            </a:r>
          </a:p>
          <a:p>
            <a:pPr marL="0" algn="l">
              <a:spcBef>
                <a:spcPts val="100"/>
              </a:spcBef>
            </a:pPr>
            <a:r>
              <a:rPr lang="zh-CN" sz="1000" b="0" dirty="0">
                <a:solidFill>
                  <a:srgbClr val="333333"/>
                </a:solidFill>
                <a:latin typeface="Microsoft YaHei"/>
                <a:ea typeface="Microsoft YaHei"/>
              </a:rPr>
              <a:t>   国际货币基金组织于6月15日至26日完成对巴拉圭的第四条磋商访问。IMF预测2026年GDP增长4.4%，中期趋近3.8%。IMF高度评价巴拉圭的通胀目标制框架、灵活汇率机制和财政纪律，指出巴拉圭因100%可再生能源发电和良好的大豆生产/价格条件成功隔离了中东冲突影响。IMF认为存在进一步降息空间，但需取决于能源冲击的持续性。</a:t>
            </a:r>
          </a:p>
          <a:p>
            <a:pPr marL="0" algn="l">
              <a:spcBef>
                <a:spcPts val="800"/>
              </a:spcBef>
            </a:pPr>
            <a:r>
              <a:rPr lang="zh-CN" sz="1300" b="1" dirty="0">
                <a:solidFill>
                  <a:srgbClr val="333333"/>
                </a:solidFill>
                <a:latin typeface="Microsoft YaHei"/>
                <a:ea typeface="Microsoft YaHei"/>
              </a:rPr>
              <a:t>■ 培尼亚总统发表第三份年度施政报告：2025年GDP增长6.6%为12年最高，失业率降至5.3%创历史新低（2026年7月1日）</a:t>
            </a:r>
          </a:p>
          <a:p>
            <a:pPr marL="0" algn="l">
              <a:spcBef>
                <a:spcPts val="100"/>
              </a:spcBef>
            </a:pPr>
            <a:r>
              <a:rPr lang="zh-CN" sz="800" b="0" dirty="0">
                <a:solidFill>
                  <a:srgbClr val="888888"/>
                </a:solidFill>
                <a:latin typeface="Microsoft YaHei"/>
                <a:ea typeface="Microsoft YaHei"/>
              </a:rPr>
              <a:t>  来源: Diario HOY  </a:t>
            </a:r>
          </a:p>
          <a:p>
            <a:pPr marL="0" algn="l">
              <a:spcBef>
                <a:spcPts val="100"/>
              </a:spcBef>
            </a:pPr>
            <a:r>
              <a:rPr lang="zh-CN" sz="1000" b="0" dirty="0">
                <a:solidFill>
                  <a:srgbClr val="333333"/>
                </a:solidFill>
                <a:latin typeface="Microsoft YaHei"/>
                <a:ea typeface="Microsoft YaHei"/>
              </a:rPr>
              <a:t>   培尼亚总统在国会发表第三次年度施政报告，披露关键经济指标：2025年GDP增长6.6%（为12年来最高，拉美第一），2026年Q1增长5.8%；2025年Q4失业率降至3.6%，2026年Q1为5.3%（历史最低Q1水平）；贫困率降至16%、极端贫困率降至2.4%（均创历史新低）；IPS正式就业人数842,023人创纪录；获穆迪和标普两个投资级评级。</a:t>
            </a:r>
          </a:p>
          <a:p>
            <a:pPr marL="0" algn="l">
              <a:spcBef>
                <a:spcPts val="800"/>
              </a:spcBef>
            </a:pPr>
            <a:r>
              <a:rPr lang="zh-CN" sz="1300" b="1" dirty="0">
                <a:solidFill>
                  <a:srgbClr val="333333"/>
                </a:solidFill>
                <a:latin typeface="Microsoft YaHei"/>
                <a:ea typeface="Microsoft YaHei"/>
              </a:rPr>
              <a:t>■ 巴拉圭央行连续第四个月维持政策利率在5.50%不变，6月CPI同比仅上涨2.09%（2026年7月2日）</a:t>
            </a:r>
          </a:p>
          <a:p>
            <a:pPr marL="0" algn="l">
              <a:spcBef>
                <a:spcPts val="100"/>
              </a:spcBef>
            </a:pPr>
            <a:r>
              <a:rPr lang="zh-CN" sz="800" b="0" dirty="0">
                <a:solidFill>
                  <a:srgbClr val="888888"/>
                </a:solidFill>
                <a:latin typeface="Microsoft YaHei"/>
                <a:ea typeface="Microsoft YaHei"/>
              </a:rPr>
              <a:t>  来源: Itaú BBA / BCP  </a:t>
            </a:r>
          </a:p>
          <a:p>
            <a:pPr marL="0" algn="l">
              <a:spcBef>
                <a:spcPts val="100"/>
              </a:spcBef>
            </a:pPr>
            <a:r>
              <a:rPr lang="zh-CN" sz="1000" b="0" dirty="0">
                <a:solidFill>
                  <a:srgbClr val="333333"/>
                </a:solidFill>
                <a:latin typeface="Microsoft YaHei"/>
                <a:ea typeface="Microsoft YaHei"/>
              </a:rPr>
              <a:t>   BCP于6月会议一致决定将基准利率维持在5.50%不变，自2026年2月以来保持中性立场。根据最新CPI数据（AE_IPC-26.6），6月CPI环比下降0.28%，同比涨幅2.09%，远低于3.5%的目标水平。央行下次议息会议为7月23日，市场预期年内利率维持不变。央行将中东冲突和美国关税不确定性列为主要外部风险。</a:t>
            </a:r>
          </a:p>
          <a:p>
            <a:pPr marL="0" algn="l">
              <a:spcBef>
                <a:spcPts val="800"/>
              </a:spcBef>
            </a:pPr>
            <a:r>
              <a:rPr lang="zh-CN" sz="1300" b="1" dirty="0">
                <a:solidFill>
                  <a:srgbClr val="333333"/>
                </a:solidFill>
                <a:latin typeface="Microsoft YaHei"/>
                <a:ea typeface="Microsoft YaHei"/>
              </a:rPr>
              <a:t>■ 瓜拉尼大幅升值21.9%：USD/PYG从7,784降至6,082，冲击海关税收和边境贸易（2026年7月3日）</a:t>
            </a:r>
          </a:p>
          <a:p>
            <a:pPr marL="0" algn="l">
              <a:spcBef>
                <a:spcPts val="100"/>
              </a:spcBef>
            </a:pPr>
            <a:r>
              <a:rPr lang="zh-CN" sz="800" b="0" dirty="0">
                <a:solidFill>
                  <a:srgbClr val="888888"/>
                </a:solidFill>
                <a:latin typeface="Microsoft YaHei"/>
                <a:ea typeface="Microsoft YaHei"/>
              </a:rPr>
              <a:t>  来源: Prensa Mercosur / DNIT  </a:t>
            </a:r>
          </a:p>
          <a:p>
            <a:pPr marL="0" algn="l">
              <a:spcBef>
                <a:spcPts val="100"/>
              </a:spcBef>
            </a:pPr>
            <a:r>
              <a:rPr lang="zh-CN" sz="1000" b="0" dirty="0">
                <a:solidFill>
                  <a:srgbClr val="333333"/>
                </a:solidFill>
                <a:latin typeface="Microsoft YaHei"/>
                <a:ea typeface="Microsoft YaHei"/>
              </a:rPr>
              <a:t>   瓜拉尼对美元同比升值21.9%，USD/PYG从去年6月的7,784降至今年6月的6,081.67。强势本币导致海关税收上半年同比下降11.6%（尽管进口量增长7%、进口额增长10%），“液化”了瓜拉尼税基。DNIT上半年总收入21.73万亿瓜拉尼，同比仅增1.8%。边境贸易遭受重创：Alberdi-Formosa口岸阿根廷买家日均从1,200人骤降至400-500人。</a:t>
            </a:r>
          </a:p>
        </p:txBody>
      </p:sp>
      <p:sp>
        <p:nvSpPr>
          <p:cNvPr id="105" name="Shape105"/>
          <p:cNvSpPr/>
          <p:nvPr/>
        </p:nvSpPr>
        <p:spPr>
          <a:xfrm>
            <a:off x="0" y="6583680"/>
            <a:ext cx="12192000" cy="274320"/>
          </a:xfrm>
          <a:prstGeom prst="rect">
            <a:avLst/>
          </a:prstGeom>
          <a:solidFill>
            <a:srgbClr val="C41230"/>
          </a:solidFill>
          <a:ln>
            <a:noFill/>
          </a:ln>
        </p:spPr>
      </p:sp>
      <p:sp>
        <p:nvSpPr>
          <p:cNvPr id="106" name="TextBox106"/>
          <p:cNvSpPr>
            <a:spLocks noGrp="1"/>
          </p:cNvSpPr>
          <p:nvPr/>
        </p:nvSpPr>
        <p:spPr>
          <a:xfrm>
            <a:off x="10515600" y="6629400"/>
            <a:ext cx="1371600" cy="182880"/>
          </a:xfrm>
          <a:prstGeom prst="rect">
            <a:avLst/>
          </a:prstGeom>
          <a:noFill/>
        </p:spPr>
        <p:txBody>
          <a:bodyPr wrap="square" lIns="0" tIns="0" rIns="0" bIns="0"/>
          <a:p>
            <a:pPr marL="0" algn="r"/>
            <a:r>
              <a:rPr lang="zh-CN" sz="800" b="0" dirty="0">
                <a:solidFill>
                  <a:srgbClr val="888888"/>
                </a:solidFill>
                <a:latin typeface="Microsoft YaHei"/>
                <a:ea typeface="Microsoft YaHei"/>
              </a:rPr>
              <a:t>3 / 12</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hape100"/>
          <p:cNvSpPr/>
          <p:nvPr/>
        </p:nvSpPr>
        <p:spPr>
          <a:xfrm>
            <a:off x="0" y="0"/>
            <a:ext cx="12192000" cy="1005840"/>
          </a:xfrm>
          <a:prstGeom prst="rect">
            <a:avLst/>
          </a:prstGeom>
          <a:solidFill>
            <a:srgbClr val="1B3A5C"/>
          </a:solidFill>
          <a:ln>
            <a:noFill/>
          </a:ln>
        </p:spPr>
      </p:sp>
      <p:sp>
        <p:nvSpPr>
          <p:cNvPr id="101" name="TextBox101"/>
          <p:cNvSpPr>
            <a:spLocks noGrp="1"/>
          </p:cNvSpPr>
          <p:nvPr/>
        </p:nvSpPr>
        <p:spPr>
          <a:xfrm>
            <a:off x="548640" y="137160"/>
            <a:ext cx="10972800" cy="731520"/>
          </a:xfrm>
          <a:prstGeom prst="rect">
            <a:avLst/>
          </a:prstGeom>
          <a:noFill/>
        </p:spPr>
        <p:txBody>
          <a:bodyPr wrap="square" lIns="0" tIns="0" rIns="0" bIns="0"/>
          <a:p>
            <a:pPr marL="0" algn="l"/>
            <a:r>
              <a:rPr lang="zh-CN" sz="2800" b="1" dirty="0">
                <a:solidFill>
                  <a:srgbClr val="FFFFFF"/>
                </a:solidFill>
                <a:latin typeface="SimHei"/>
                <a:ea typeface="SimHei"/>
              </a:rPr>
              <a:t>二、政治与政策变化</a:t>
            </a:r>
          </a:p>
        </p:txBody>
      </p:sp>
      <p:sp>
        <p:nvSpPr>
          <p:cNvPr id="102" name="TextBox102"/>
          <p:cNvSpPr>
            <a:spLocks noGrp="1"/>
          </p:cNvSpPr>
          <p:nvPr/>
        </p:nvSpPr>
        <p:spPr>
          <a:xfrm>
            <a:off x="457200" y="1143000"/>
            <a:ext cx="11155680" cy="5303520"/>
          </a:xfrm>
          <a:prstGeom prst="rect">
            <a:avLst/>
          </a:prstGeom>
          <a:noFill/>
        </p:spPr>
        <p:txBody>
          <a:bodyPr wrap="square" lIns="0" tIns="0" rIns="0" bIns="0"/>
          <a:p>
            <a:pPr marL="0" algn="l"/>
            <a:r>
              <a:rPr lang="zh-CN" sz="1300" b="1" dirty="0">
                <a:solidFill>
                  <a:srgbClr val="333333"/>
                </a:solidFill>
                <a:latin typeface="Microsoft YaHei"/>
                <a:ea typeface="Microsoft YaHei"/>
              </a:rPr>
              <a:t>■ 培尼亚施政报告：任内通过164部法律，推进历史性改革——涵盖税收激励、铁路开放、养老金改革（2026年7月1日）</a:t>
            </a:r>
          </a:p>
          <a:p>
            <a:pPr marL="0" algn="l">
              <a:spcBef>
                <a:spcPts val="100"/>
              </a:spcBef>
            </a:pPr>
            <a:r>
              <a:rPr lang="zh-CN" sz="800" b="0" dirty="0">
                <a:solidFill>
                  <a:srgbClr val="888888"/>
                </a:solidFill>
                <a:latin typeface="Microsoft YaHei"/>
                <a:ea typeface="Microsoft YaHei"/>
              </a:rPr>
              <a:t>  来源: RCC / Presidencia [政府官网]  </a:t>
            </a:r>
          </a:p>
          <a:p>
            <a:pPr marL="0" algn="l">
              <a:spcBef>
                <a:spcPts val="100"/>
              </a:spcBef>
            </a:pPr>
            <a:r>
              <a:rPr lang="zh-CN" sz="1000" b="0" dirty="0">
                <a:solidFill>
                  <a:srgbClr val="333333"/>
                </a:solidFill>
                <a:latin typeface="Microsoft YaHei"/>
                <a:ea typeface="Microsoft YaHei"/>
              </a:rPr>
              <a:t>   培尼亚总统在施政报告中强调，政治稳定为改革提供了基础。任内通过164部法律，包括：新的投资激励法（取代60/90法）、资本市场法（接近OECD标准）、数据保护法、养老金体系改革、铁路部门开放法（7665/2026）等。新投资激励法已通过国会，将现代化税收激励制度，面向国内外投资者。</a:t>
            </a:r>
          </a:p>
          <a:p>
            <a:pPr marL="0" algn="l">
              <a:spcBef>
                <a:spcPts val="800"/>
              </a:spcBef>
            </a:pPr>
            <a:r>
              <a:rPr lang="zh-CN" sz="1300" b="1" dirty="0">
                <a:solidFill>
                  <a:srgbClr val="333333"/>
                </a:solidFill>
                <a:latin typeface="Microsoft YaHei"/>
                <a:ea typeface="Microsoft YaHei"/>
              </a:rPr>
              <a:t>■ 巴拉圭与智利签署双重征税协定，扩大国际税收协定网络（2026年7月初）</a:t>
            </a:r>
          </a:p>
          <a:p>
            <a:pPr marL="0" algn="l">
              <a:spcBef>
                <a:spcPts val="100"/>
              </a:spcBef>
            </a:pPr>
            <a:r>
              <a:rPr lang="zh-CN" sz="800" b="0" dirty="0">
                <a:solidFill>
                  <a:srgbClr val="888888"/>
                </a:solidFill>
                <a:latin typeface="Microsoft YaHei"/>
                <a:ea typeface="Microsoft YaHei"/>
              </a:rPr>
              <a:t>  来源: ADN Digital  </a:t>
            </a:r>
          </a:p>
          <a:p>
            <a:pPr marL="0" algn="l">
              <a:spcBef>
                <a:spcPts val="100"/>
              </a:spcBef>
            </a:pPr>
            <a:r>
              <a:rPr lang="zh-CN" sz="1000" b="0" dirty="0">
                <a:solidFill>
                  <a:srgbClr val="333333"/>
                </a:solidFill>
                <a:latin typeface="Microsoft YaHei"/>
                <a:ea typeface="Microsoft YaHei"/>
              </a:rPr>
              <a:t>   巴拉圭与智利签署避免双重征税和防止逃避税协定，标志着巴拉圭国际税收协定网络进一步扩大，此前已与乌拉圭和阿联酋签署类似协定。协定降低跨境股息、利息和特许权使用费的预扣税率（可低至5-10%），有助于吸引外国直接投资并提升巴拉圭作为区域投资枢纽的竞争力。</a:t>
            </a:r>
          </a:p>
          <a:p>
            <a:pPr marL="0" algn="l">
              <a:spcBef>
                <a:spcPts val="800"/>
              </a:spcBef>
            </a:pPr>
            <a:r>
              <a:rPr lang="zh-CN" sz="1300" b="1" dirty="0">
                <a:solidFill>
                  <a:srgbClr val="333333"/>
                </a:solidFill>
                <a:latin typeface="Microsoft YaHei"/>
                <a:ea typeface="Microsoft YaHei"/>
              </a:rPr>
              <a:t>■ 巴拉圭开放铁路行业引入国际资本——Etihad Rail投资4.8亿美元建设亚松森通勤铁路（2026年6月10日生效）</a:t>
            </a:r>
          </a:p>
          <a:p>
            <a:pPr marL="0" algn="l">
              <a:spcBef>
                <a:spcPts val="100"/>
              </a:spcBef>
            </a:pPr>
            <a:r>
              <a:rPr lang="zh-CN" sz="800" b="0" dirty="0">
                <a:solidFill>
                  <a:srgbClr val="888888"/>
                </a:solidFill>
                <a:latin typeface="Microsoft YaHei"/>
                <a:ea typeface="Microsoft YaHei"/>
              </a:rPr>
              <a:t>  来源: Marcasur / Congreso [政府官网]  </a:t>
            </a:r>
          </a:p>
          <a:p>
            <a:pPr marL="0" algn="l">
              <a:spcBef>
                <a:spcPts val="100"/>
              </a:spcBef>
            </a:pPr>
            <a:r>
              <a:rPr lang="zh-CN" sz="1000" b="0" dirty="0">
                <a:solidFill>
                  <a:srgbClr val="333333"/>
                </a:solidFill>
                <a:latin typeface="Microsoft YaHei"/>
                <a:ea typeface="Microsoft YaHei"/>
              </a:rPr>
              <a:t>   第7665/2026号法律修改并扩展了通勤铁路法，引入G2G协议制度。Etihad Rail PJSC（阿联酋）将通过巴拉圭SPV（75%阿联酋/25%巴拉圭）承建第一阶段Asunción-Luque走廊（18公里/4.8亿美元）。法律包含不可撤销的美元延期支付义务（PDI）、AFD信托担保、国际仲裁条款以及广泛的税收和海关豁免。标志着巴拉圭基础设施融资模式的重大创新。</a:t>
            </a:r>
          </a:p>
        </p:txBody>
      </p:sp>
      <p:sp>
        <p:nvSpPr>
          <p:cNvPr id="105" name="Shape105"/>
          <p:cNvSpPr/>
          <p:nvPr/>
        </p:nvSpPr>
        <p:spPr>
          <a:xfrm>
            <a:off x="0" y="6583680"/>
            <a:ext cx="12192000" cy="274320"/>
          </a:xfrm>
          <a:prstGeom prst="rect">
            <a:avLst/>
          </a:prstGeom>
          <a:solidFill>
            <a:srgbClr val="C41230"/>
          </a:solidFill>
          <a:ln>
            <a:noFill/>
          </a:ln>
        </p:spPr>
      </p:sp>
      <p:sp>
        <p:nvSpPr>
          <p:cNvPr id="106" name="TextBox106"/>
          <p:cNvSpPr>
            <a:spLocks noGrp="1"/>
          </p:cNvSpPr>
          <p:nvPr/>
        </p:nvSpPr>
        <p:spPr>
          <a:xfrm>
            <a:off x="10515600" y="6629400"/>
            <a:ext cx="1371600" cy="182880"/>
          </a:xfrm>
          <a:prstGeom prst="rect">
            <a:avLst/>
          </a:prstGeom>
          <a:noFill/>
        </p:spPr>
        <p:txBody>
          <a:bodyPr wrap="square" lIns="0" tIns="0" rIns="0" bIns="0"/>
          <a:p>
            <a:pPr marL="0" algn="r"/>
            <a:r>
              <a:rPr lang="zh-CN" sz="800" b="0" dirty="0">
                <a:solidFill>
                  <a:srgbClr val="888888"/>
                </a:solidFill>
                <a:latin typeface="Microsoft YaHei"/>
                <a:ea typeface="Microsoft YaHei"/>
              </a:rPr>
              <a:t>4 / 12</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hape100"/>
          <p:cNvSpPr/>
          <p:nvPr/>
        </p:nvSpPr>
        <p:spPr>
          <a:xfrm>
            <a:off x="0" y="0"/>
            <a:ext cx="12192000" cy="1005840"/>
          </a:xfrm>
          <a:prstGeom prst="rect">
            <a:avLst/>
          </a:prstGeom>
          <a:solidFill>
            <a:srgbClr val="1B3A5C"/>
          </a:solidFill>
          <a:ln>
            <a:noFill/>
          </a:ln>
        </p:spPr>
      </p:sp>
      <p:sp>
        <p:nvSpPr>
          <p:cNvPr id="101" name="TextBox101"/>
          <p:cNvSpPr>
            <a:spLocks noGrp="1"/>
          </p:cNvSpPr>
          <p:nvPr/>
        </p:nvSpPr>
        <p:spPr>
          <a:xfrm>
            <a:off x="548640" y="137160"/>
            <a:ext cx="10972800" cy="731520"/>
          </a:xfrm>
          <a:prstGeom prst="rect">
            <a:avLst/>
          </a:prstGeom>
          <a:noFill/>
        </p:spPr>
        <p:txBody>
          <a:bodyPr wrap="square" lIns="0" tIns="0" rIns="0" bIns="0"/>
          <a:p>
            <a:pPr marL="0" algn="l"/>
            <a:r>
              <a:rPr lang="zh-CN" sz="2800" b="1" dirty="0">
                <a:solidFill>
                  <a:srgbClr val="FFFFFF"/>
                </a:solidFill>
                <a:latin typeface="SimHei"/>
                <a:ea typeface="SimHei"/>
              </a:rPr>
              <a:t>三、社会与安全形势</a:t>
            </a:r>
          </a:p>
        </p:txBody>
      </p:sp>
      <p:sp>
        <p:nvSpPr>
          <p:cNvPr id="102" name="TextBox102"/>
          <p:cNvSpPr>
            <a:spLocks noGrp="1"/>
          </p:cNvSpPr>
          <p:nvPr/>
        </p:nvSpPr>
        <p:spPr>
          <a:xfrm>
            <a:off x="457200" y="1143000"/>
            <a:ext cx="11155680" cy="5303520"/>
          </a:xfrm>
          <a:prstGeom prst="rect">
            <a:avLst/>
          </a:prstGeom>
          <a:noFill/>
        </p:spPr>
        <p:txBody>
          <a:bodyPr wrap="square" lIns="0" tIns="0" rIns="0" bIns="0"/>
          <a:p>
            <a:pPr marL="0" algn="l"/>
            <a:r>
              <a:rPr lang="zh-CN" sz="1300" b="1" dirty="0">
                <a:solidFill>
                  <a:srgbClr val="333333"/>
                </a:solidFill>
                <a:latin typeface="Microsoft YaHei"/>
                <a:ea typeface="Microsoft YaHei"/>
              </a:rPr>
              <a:t>■ 就业形势创纪录：失业率降至Q1历史最低5.3%，正式就业突破84.2万人，7/10新非农就业为正式岗位（2026年7月1日）</a:t>
            </a:r>
          </a:p>
          <a:p>
            <a:pPr marL="0" algn="l">
              <a:spcBef>
                <a:spcPts val="100"/>
              </a:spcBef>
            </a:pPr>
            <a:r>
              <a:rPr lang="zh-CN" sz="800" b="0" dirty="0">
                <a:solidFill>
                  <a:srgbClr val="888888"/>
                </a:solidFill>
                <a:latin typeface="Microsoft YaHei"/>
                <a:ea typeface="Microsoft YaHei"/>
              </a:rPr>
              <a:t>  来源: Diario HOY  </a:t>
            </a:r>
          </a:p>
          <a:p>
            <a:pPr marL="0" algn="l">
              <a:spcBef>
                <a:spcPts val="100"/>
              </a:spcBef>
            </a:pPr>
            <a:r>
              <a:rPr lang="zh-CN" sz="1000" b="0" dirty="0">
                <a:solidFill>
                  <a:srgbClr val="333333"/>
                </a:solidFill>
                <a:latin typeface="Microsoft YaHei"/>
                <a:ea typeface="Microsoft YaHei"/>
              </a:rPr>
              <a:t>   培尼亚总统施政报告披露：2025年Q4失业率3.6%为历史最低，2026年Q1为5.3%（Q1历来数据偏高，仍为Q1历史最低）。IPS正式就业人数突破842,023人创纪录，自2023年8月以来新增134,000名参保人员。正式就业率首次突破40%。7/10的新非农就业岗位为正式岗位，标志着就业正规化取得显著进展。</a:t>
            </a:r>
          </a:p>
          <a:p>
            <a:pPr marL="0" algn="l">
              <a:spcBef>
                <a:spcPts val="800"/>
              </a:spcBef>
            </a:pPr>
            <a:r>
              <a:rPr lang="zh-CN" sz="1300" b="1" dirty="0">
                <a:solidFill>
                  <a:srgbClr val="333333"/>
                </a:solidFill>
                <a:latin typeface="Microsoft YaHei"/>
                <a:ea typeface="Microsoft YaHei"/>
              </a:rPr>
              <a:t>■ 安全形势显著改善：抢劫车辆案下降39%、摩托车抢劫下降38%，万名新警力部署、Botón Lince快速响应系统上线（2026年7月2日）</a:t>
            </a:r>
          </a:p>
          <a:p>
            <a:pPr marL="0" algn="l">
              <a:spcBef>
                <a:spcPts val="100"/>
              </a:spcBef>
            </a:pPr>
            <a:r>
              <a:rPr lang="zh-CN" sz="800" b="0" dirty="0">
                <a:solidFill>
                  <a:srgbClr val="888888"/>
                </a:solidFill>
                <a:latin typeface="Microsoft YaHei"/>
                <a:ea typeface="Microsoft YaHei"/>
              </a:rPr>
              <a:t>  来源: Diario HOY  </a:t>
            </a:r>
          </a:p>
          <a:p>
            <a:pPr marL="0" algn="l">
              <a:spcBef>
                <a:spcPts val="100"/>
              </a:spcBef>
            </a:pPr>
            <a:r>
              <a:rPr lang="zh-CN" sz="1000" b="0" dirty="0">
                <a:solidFill>
                  <a:srgbClr val="333333"/>
                </a:solidFill>
                <a:latin typeface="Microsoft YaHei"/>
                <a:ea typeface="Microsoft YaHei"/>
              </a:rPr>
              <a:t>   施政报告安全数据显示：两年内新增10,000名警察（2025年5,000人+2026年5,000人），抢劫车辆案件同比下降39%，摩托车抢劫下降38%。推出“Botón Lince”应用程序，在关键区域实现4分钟以内警力响应。SENAD执行8,947次缉毒行动，对毒品贩运造成2.12亿美元经济损失。培尼亚称“巴拉圭不再被称为拉丁美洲的可卡因走廊”。</a:t>
            </a:r>
          </a:p>
          <a:p>
            <a:pPr marL="0" algn="l">
              <a:spcBef>
                <a:spcPts val="800"/>
              </a:spcBef>
            </a:pPr>
            <a:r>
              <a:rPr lang="zh-CN" sz="1300" b="1" dirty="0">
                <a:solidFill>
                  <a:srgbClr val="333333"/>
                </a:solidFill>
                <a:latin typeface="Microsoft YaHei"/>
                <a:ea typeface="Microsoft YaHei"/>
              </a:rPr>
              <a:t>■ 智利总统卡斯特访问巴拉圭，呼吁区域联合打击有组织犯罪，巴拉圭加入“圣地亚哥承诺”（2026年7月1日）</a:t>
            </a:r>
          </a:p>
          <a:p>
            <a:pPr marL="0" algn="l">
              <a:spcBef>
                <a:spcPts val="100"/>
              </a:spcBef>
            </a:pPr>
            <a:r>
              <a:rPr lang="zh-CN" sz="800" b="0" dirty="0">
                <a:solidFill>
                  <a:srgbClr val="888888"/>
                </a:solidFill>
                <a:latin typeface="Microsoft YaHei"/>
                <a:ea typeface="Microsoft YaHei"/>
              </a:rPr>
              <a:t>  来源: EFE / Agencia IP [政府官网]  </a:t>
            </a:r>
          </a:p>
          <a:p>
            <a:pPr marL="0" algn="l">
              <a:spcBef>
                <a:spcPts val="100"/>
              </a:spcBef>
            </a:pPr>
            <a:r>
              <a:rPr lang="zh-CN" sz="1000" b="0" dirty="0">
                <a:solidFill>
                  <a:srgbClr val="333333"/>
                </a:solidFill>
                <a:latin typeface="Microsoft YaHei"/>
                <a:ea typeface="Microsoft YaHei"/>
              </a:rPr>
              <a:t>   智利总统何塞·安东尼奥·卡斯特首次正式访问巴拉圭，与培尼亚总统会谈。卡斯特呼吁区域联合打击有组织犯罪，称'面对有组织犯罪，中立不作为不是选择'。巴拉圭加入了由智利推动的'圣地亚哥承诺'，阿根廷、玻利维亚、厄瓜多尔和秘鲁也参与其中，旨在加强跨国犯罪的信息共享和联合执法。</a:t>
            </a:r>
          </a:p>
        </p:txBody>
      </p:sp>
      <p:sp>
        <p:nvSpPr>
          <p:cNvPr id="105" name="Shape105"/>
          <p:cNvSpPr/>
          <p:nvPr/>
        </p:nvSpPr>
        <p:spPr>
          <a:xfrm>
            <a:off x="0" y="6583680"/>
            <a:ext cx="12192000" cy="274320"/>
          </a:xfrm>
          <a:prstGeom prst="rect">
            <a:avLst/>
          </a:prstGeom>
          <a:solidFill>
            <a:srgbClr val="C41230"/>
          </a:solidFill>
          <a:ln>
            <a:noFill/>
          </a:ln>
        </p:spPr>
      </p:sp>
      <p:sp>
        <p:nvSpPr>
          <p:cNvPr id="106" name="TextBox106"/>
          <p:cNvSpPr>
            <a:spLocks noGrp="1"/>
          </p:cNvSpPr>
          <p:nvPr/>
        </p:nvSpPr>
        <p:spPr>
          <a:xfrm>
            <a:off x="10515600" y="6629400"/>
            <a:ext cx="1371600" cy="182880"/>
          </a:xfrm>
          <a:prstGeom prst="rect">
            <a:avLst/>
          </a:prstGeom>
          <a:noFill/>
        </p:spPr>
        <p:txBody>
          <a:bodyPr wrap="square" lIns="0" tIns="0" rIns="0" bIns="0"/>
          <a:p>
            <a:pPr marL="0" algn="r"/>
            <a:r>
              <a:rPr lang="zh-CN" sz="800" b="0" dirty="0">
                <a:solidFill>
                  <a:srgbClr val="888888"/>
                </a:solidFill>
                <a:latin typeface="Microsoft YaHei"/>
                <a:ea typeface="Microsoft YaHei"/>
              </a:rPr>
              <a:t>5 / 12</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hape100"/>
          <p:cNvSpPr/>
          <p:nvPr/>
        </p:nvSpPr>
        <p:spPr>
          <a:xfrm>
            <a:off x="0" y="0"/>
            <a:ext cx="12192000" cy="1005840"/>
          </a:xfrm>
          <a:prstGeom prst="rect">
            <a:avLst/>
          </a:prstGeom>
          <a:solidFill>
            <a:srgbClr val="1B3A5C"/>
          </a:solidFill>
          <a:ln>
            <a:noFill/>
          </a:ln>
        </p:spPr>
      </p:sp>
      <p:sp>
        <p:nvSpPr>
          <p:cNvPr id="101" name="TextBox101"/>
          <p:cNvSpPr>
            <a:spLocks noGrp="1"/>
          </p:cNvSpPr>
          <p:nvPr/>
        </p:nvSpPr>
        <p:spPr>
          <a:xfrm>
            <a:off x="548640" y="137160"/>
            <a:ext cx="10972800" cy="731520"/>
          </a:xfrm>
          <a:prstGeom prst="rect">
            <a:avLst/>
          </a:prstGeom>
          <a:noFill/>
        </p:spPr>
        <p:txBody>
          <a:bodyPr wrap="square" lIns="0" tIns="0" rIns="0" bIns="0"/>
          <a:p>
            <a:pPr marL="0" algn="l"/>
            <a:r>
              <a:rPr lang="zh-CN" sz="2800" b="1" dirty="0">
                <a:solidFill>
                  <a:srgbClr val="FFFFFF"/>
                </a:solidFill>
                <a:latin typeface="SimHei"/>
                <a:ea typeface="SimHei"/>
              </a:rPr>
              <a:t>四、国际关系与外交动态</a:t>
            </a:r>
          </a:p>
        </p:txBody>
      </p:sp>
      <p:sp>
        <p:nvSpPr>
          <p:cNvPr id="102" name="TextBox102"/>
          <p:cNvSpPr>
            <a:spLocks noGrp="1"/>
          </p:cNvSpPr>
          <p:nvPr/>
        </p:nvSpPr>
        <p:spPr>
          <a:xfrm>
            <a:off x="457200" y="1143000"/>
            <a:ext cx="11155680" cy="5303520"/>
          </a:xfrm>
          <a:prstGeom prst="rect">
            <a:avLst/>
          </a:prstGeom>
          <a:noFill/>
        </p:spPr>
        <p:txBody>
          <a:bodyPr wrap="square" lIns="0" tIns="0" rIns="0" bIns="0"/>
          <a:p>
            <a:pPr marL="0" algn="l"/>
            <a:r>
              <a:rPr lang="zh-CN" sz="1300" b="1" dirty="0">
                <a:solidFill>
                  <a:srgbClr val="333333"/>
                </a:solidFill>
                <a:latin typeface="Microsoft YaHei"/>
                <a:ea typeface="Microsoft YaHei"/>
              </a:rPr>
              <a:t>■ 南共市峰会争议：巴拉圭要求25%欧盟出口配额，培尼亚称现行制度“不公平、不可接受”（2026年7月1日）</a:t>
            </a:r>
          </a:p>
          <a:p>
            <a:pPr marL="0" algn="l">
              <a:spcBef>
                <a:spcPts val="100"/>
              </a:spcBef>
            </a:pPr>
            <a:r>
              <a:rPr lang="zh-CN" sz="800" b="0" dirty="0">
                <a:solidFill>
                  <a:srgbClr val="888888"/>
                </a:solidFill>
                <a:latin typeface="Microsoft YaHei"/>
                <a:ea typeface="Microsoft YaHei"/>
              </a:rPr>
              <a:t>  来源: MisionesOnline / Agencia IP [政府官网]  </a:t>
            </a:r>
          </a:p>
          <a:p>
            <a:pPr marL="0" algn="l">
              <a:spcBef>
                <a:spcPts val="100"/>
              </a:spcBef>
            </a:pPr>
            <a:r>
              <a:rPr lang="zh-CN" sz="1000" b="0" dirty="0">
                <a:solidFill>
                  <a:srgbClr val="333333"/>
                </a:solidFill>
                <a:latin typeface="Microsoft YaHei"/>
                <a:ea typeface="Microsoft YaHei"/>
              </a:rPr>
              <a:t>   在亚松森举行的南共市峰会上，巴拉圭对欧盟贸易协定的配额分配机制提出强烈异议。培尼亚总统称现行'先到先得'制度对巴拉圭'不公平、具有冒犯性且不可接受'。巴拉圭要求按产品类别固定25%配额，而巴西、阿根廷和乌拉圭倾向基于历史出口平均值分配。巴拉圭还将配额争议与FOCEM结构趋同基金挂钩，要求加大对内陆国家的基础设施补偿。欧盟-南共市FTA已于5月1日临时生效，乌拉圭将于7月起接任轮值主席国。</a:t>
            </a:r>
          </a:p>
          <a:p>
            <a:pPr marL="0" algn="l">
              <a:spcBef>
                <a:spcPts val="800"/>
              </a:spcBef>
            </a:pPr>
            <a:r>
              <a:rPr lang="zh-CN" sz="1300" b="1" dirty="0">
                <a:solidFill>
                  <a:srgbClr val="333333"/>
                </a:solidFill>
                <a:latin typeface="Microsoft YaHei"/>
                <a:ea typeface="Microsoft YaHei"/>
              </a:rPr>
              <a:t>■ 巴拉圭对华/对台政策：外长重申愿与中国大陆贸易但“不放弃台湾”，中国外交部回应“不能接受”（2026年7月1日）</a:t>
            </a:r>
          </a:p>
          <a:p>
            <a:pPr marL="0" algn="l">
              <a:spcBef>
                <a:spcPts val="100"/>
              </a:spcBef>
            </a:pPr>
            <a:r>
              <a:rPr lang="zh-CN" sz="800" b="0" dirty="0">
                <a:solidFill>
                  <a:srgbClr val="888888"/>
                </a:solidFill>
                <a:latin typeface="Microsoft YaHei"/>
                <a:ea typeface="Microsoft YaHei"/>
              </a:rPr>
              <a:t>  来源: La Nación  </a:t>
            </a:r>
          </a:p>
          <a:p>
            <a:pPr marL="0" algn="l">
              <a:spcBef>
                <a:spcPts val="100"/>
              </a:spcBef>
            </a:pPr>
            <a:r>
              <a:rPr lang="zh-CN" sz="1000" b="0" dirty="0">
                <a:solidFill>
                  <a:srgbClr val="333333"/>
                </a:solidFill>
                <a:latin typeface="Microsoft YaHei"/>
                <a:ea typeface="Microsoft YaHei"/>
              </a:rPr>
              <a:t>   南共市峰会期间，巴拉圭外长拉米雷斯·莱斯卡诺重申：巴拉圭愿在南共市框架下与中国大陆展开贸易谈判，但不会以放弃对台关系为条件。中国外交部回应称巴拉圭'站在历史的错误一边'，不接受'一边维持与台湾的关系一边与中国贸易'的做法。巴西总统卢拉推动南共市与中国展开贸易谈判，给巴拉圭带来额外压力——巴是南共市唯一未与中国建交的成员国。</a:t>
            </a:r>
          </a:p>
          <a:p>
            <a:pPr marL="0" algn="l">
              <a:spcBef>
                <a:spcPts val="800"/>
              </a:spcBef>
            </a:pPr>
            <a:r>
              <a:rPr lang="zh-CN" sz="1300" b="1" dirty="0">
                <a:solidFill>
                  <a:srgbClr val="333333"/>
                </a:solidFill>
                <a:latin typeface="Microsoft YaHei"/>
                <a:ea typeface="Microsoft YaHei"/>
              </a:rPr>
              <a:t>■ 巴拉圭当选联合国大会第81届会议副主席，与台湾筹备2027年建交70周年纪念活动（2026年6月底）</a:t>
            </a:r>
          </a:p>
          <a:p>
            <a:pPr marL="0" algn="l">
              <a:spcBef>
                <a:spcPts val="100"/>
              </a:spcBef>
            </a:pPr>
            <a:r>
              <a:rPr lang="zh-CN" sz="800" b="0" dirty="0">
                <a:solidFill>
                  <a:srgbClr val="888888"/>
                </a:solidFill>
                <a:latin typeface="Microsoft YaHei"/>
                <a:ea typeface="Microsoft YaHei"/>
              </a:rPr>
              <a:t>  来源: Agencia IP [政府官网]  </a:t>
            </a:r>
          </a:p>
          <a:p>
            <a:pPr marL="0" algn="l">
              <a:spcBef>
                <a:spcPts val="100"/>
              </a:spcBef>
            </a:pPr>
            <a:r>
              <a:rPr lang="zh-CN" sz="1000" b="0" dirty="0">
                <a:solidFill>
                  <a:srgbClr val="333333"/>
                </a:solidFill>
                <a:latin typeface="Microsoft YaHei"/>
                <a:ea typeface="Microsoft YaHei"/>
              </a:rPr>
              <a:t>   巴拉圭当选联合国大会第81届会议（2026-2027年度）副主席，台湾对此表示祝贺并感谢巴方持续支持台湾参与国际组织。6月中旬台湾副外长陈明祺访问亚松森，与拉米雷斯外长回顾了5月培尼亚访台成果，推进美-台-巴三方在AI、5G和网络安全领域合作，并筹备2027年建交70周年纪念议程。</a:t>
            </a:r>
          </a:p>
          <a:p>
            <a:pPr marL="0" algn="l">
              <a:spcBef>
                <a:spcPts val="800"/>
              </a:spcBef>
            </a:pPr>
            <a:r>
              <a:rPr lang="zh-CN" sz="1300" b="1" dirty="0">
                <a:solidFill>
                  <a:srgbClr val="333333"/>
                </a:solidFill>
                <a:latin typeface="Microsoft YaHei"/>
                <a:ea typeface="Microsoft YaHei"/>
              </a:rPr>
              <a:t>■ 巴拉圭深化与美国合作：推进牛肉对美出口准入，国防合作全面升级（2026年6-7月）</a:t>
            </a:r>
          </a:p>
          <a:p>
            <a:pPr marL="0" algn="l">
              <a:spcBef>
                <a:spcPts val="100"/>
              </a:spcBef>
            </a:pPr>
            <a:r>
              <a:rPr lang="zh-CN" sz="800" b="0" dirty="0">
                <a:solidFill>
                  <a:srgbClr val="888888"/>
                </a:solidFill>
                <a:latin typeface="Microsoft YaHei"/>
                <a:ea typeface="Microsoft YaHei"/>
              </a:rPr>
              <a:t>  来源: Agencia IP / USTR [政府官网]  </a:t>
            </a:r>
          </a:p>
          <a:p>
            <a:pPr marL="0" algn="l">
              <a:spcBef>
                <a:spcPts val="100"/>
              </a:spcBef>
            </a:pPr>
            <a:r>
              <a:rPr lang="zh-CN" sz="1000" b="0" dirty="0">
                <a:solidFill>
                  <a:srgbClr val="333333"/>
                </a:solidFill>
                <a:latin typeface="Microsoft YaHei"/>
                <a:ea typeface="Microsoft YaHei"/>
              </a:rPr>
              <a:t>   巴拉圭继续深化对美战略合作。6月培尼亚与国务卿鲁比奥会晤讨论牛肉配额、直航航线、核能合作和数字基础设施等领域。5月外长在华盛顿与USTR就巴拉圭牛肉对美市场准入进行谈判，推动TIFA框架下配额落地。国防层面，SOFA协定已签署，马萨诸塞州国民警卫队SPP伙伴关系迎来25周年，Northrop Grumman雷达系统谈判加速推进。</a:t>
            </a:r>
          </a:p>
        </p:txBody>
      </p:sp>
      <p:sp>
        <p:nvSpPr>
          <p:cNvPr id="105" name="Shape105"/>
          <p:cNvSpPr/>
          <p:nvPr/>
        </p:nvSpPr>
        <p:spPr>
          <a:xfrm>
            <a:off x="0" y="6583680"/>
            <a:ext cx="12192000" cy="274320"/>
          </a:xfrm>
          <a:prstGeom prst="rect">
            <a:avLst/>
          </a:prstGeom>
          <a:solidFill>
            <a:srgbClr val="C41230"/>
          </a:solidFill>
          <a:ln>
            <a:noFill/>
          </a:ln>
        </p:spPr>
      </p:sp>
      <p:sp>
        <p:nvSpPr>
          <p:cNvPr id="106" name="TextBox106"/>
          <p:cNvSpPr>
            <a:spLocks noGrp="1"/>
          </p:cNvSpPr>
          <p:nvPr/>
        </p:nvSpPr>
        <p:spPr>
          <a:xfrm>
            <a:off x="10515600" y="6629400"/>
            <a:ext cx="1371600" cy="182880"/>
          </a:xfrm>
          <a:prstGeom prst="rect">
            <a:avLst/>
          </a:prstGeom>
          <a:noFill/>
        </p:spPr>
        <p:txBody>
          <a:bodyPr wrap="square" lIns="0" tIns="0" rIns="0" bIns="0"/>
          <a:p>
            <a:pPr marL="0" algn="r"/>
            <a:r>
              <a:rPr lang="zh-CN" sz="800" b="0" dirty="0">
                <a:solidFill>
                  <a:srgbClr val="888888"/>
                </a:solidFill>
                <a:latin typeface="Microsoft YaHei"/>
                <a:ea typeface="Microsoft YaHei"/>
              </a:rPr>
              <a:t>6 / 12</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hape100"/>
          <p:cNvSpPr/>
          <p:nvPr/>
        </p:nvSpPr>
        <p:spPr>
          <a:xfrm>
            <a:off x="0" y="0"/>
            <a:ext cx="12192000" cy="1005840"/>
          </a:xfrm>
          <a:prstGeom prst="rect">
            <a:avLst/>
          </a:prstGeom>
          <a:solidFill>
            <a:srgbClr val="1B3A5C"/>
          </a:solidFill>
          <a:ln>
            <a:noFill/>
          </a:ln>
        </p:spPr>
      </p:sp>
      <p:sp>
        <p:nvSpPr>
          <p:cNvPr id="101" name="TextBox101"/>
          <p:cNvSpPr>
            <a:spLocks noGrp="1"/>
          </p:cNvSpPr>
          <p:nvPr/>
        </p:nvSpPr>
        <p:spPr>
          <a:xfrm>
            <a:off x="548640" y="137160"/>
            <a:ext cx="10972800" cy="731520"/>
          </a:xfrm>
          <a:prstGeom prst="rect">
            <a:avLst/>
          </a:prstGeom>
          <a:noFill/>
        </p:spPr>
        <p:txBody>
          <a:bodyPr wrap="square" lIns="0" tIns="0" rIns="0" bIns="0"/>
          <a:p>
            <a:pPr marL="0" algn="l"/>
            <a:r>
              <a:rPr lang="zh-CN" sz="2800" b="1" dirty="0">
                <a:solidFill>
                  <a:srgbClr val="FFFFFF"/>
                </a:solidFill>
                <a:latin typeface="SimHei"/>
                <a:ea typeface="SimHei"/>
              </a:rPr>
              <a:t>五、行业聚焦：电信、数字能源与人工智能</a:t>
            </a:r>
          </a:p>
        </p:txBody>
      </p:sp>
      <p:sp>
        <p:nvSpPr>
          <p:cNvPr id="102" name="TextBox102"/>
          <p:cNvSpPr>
            <a:spLocks noGrp="1"/>
          </p:cNvSpPr>
          <p:nvPr/>
        </p:nvSpPr>
        <p:spPr>
          <a:xfrm>
            <a:off x="457200" y="1143000"/>
            <a:ext cx="11155680" cy="5303520"/>
          </a:xfrm>
          <a:prstGeom prst="rect">
            <a:avLst/>
          </a:prstGeom>
          <a:noFill/>
        </p:spPr>
        <p:txBody>
          <a:bodyPr wrap="square" lIns="0" tIns="0" rIns="0" bIns="0"/>
          <a:p>
            <a:pPr marL="0" algn="l"/>
            <a:r>
              <a:rPr lang="zh-CN" sz="1300" b="1" dirty="0">
                <a:solidFill>
                  <a:srgbClr val="333333"/>
                </a:solidFill>
                <a:latin typeface="Microsoft YaHei"/>
                <a:ea typeface="Microsoft YaHei"/>
              </a:rPr>
              <a:t>■ CONATEL完成2.3GHz/3.5GHz频谱招标公众咨询期，预计下半年发布最终招标文件（2026年7月）</a:t>
            </a:r>
          </a:p>
          <a:p>
            <a:pPr marL="0" algn="l">
              <a:spcBef>
                <a:spcPts val="100"/>
              </a:spcBef>
            </a:pPr>
            <a:r>
              <a:rPr lang="zh-CN" sz="800" b="0" dirty="0">
                <a:solidFill>
                  <a:srgbClr val="888888"/>
                </a:solidFill>
                <a:latin typeface="Microsoft YaHei"/>
                <a:ea typeface="Microsoft YaHei"/>
              </a:rPr>
              <a:t>  来源: GMA Labs / CONATEL [政府官网]  </a:t>
            </a:r>
          </a:p>
          <a:p>
            <a:pPr marL="0" algn="l">
              <a:spcBef>
                <a:spcPts val="100"/>
              </a:spcBef>
            </a:pPr>
            <a:r>
              <a:rPr lang="zh-CN" sz="1000" b="0" dirty="0">
                <a:solidFill>
                  <a:srgbClr val="333333"/>
                </a:solidFill>
                <a:latin typeface="Microsoft YaHei"/>
                <a:ea typeface="Microsoft YaHei"/>
              </a:rPr>
              <a:t>   国家电信委员会（CONATEL）第790/2026号决议启动了2,300MHz和3,500MHz频段移动宽带和5G服务招标条款的公开征求意见，意见征集于5月15日截止。同时，第3339/2025号决议已将3,700-3,800MHz频段重新指定用于IMT（5G NR），将3.3-3.8GHz配置为10×50MHz的TDD子频段。最终招标文件预计2026年下半年发布，将明确覆盖义务、服务质量和投资承诺等条件。</a:t>
            </a:r>
          </a:p>
          <a:p>
            <a:pPr marL="0" algn="l">
              <a:spcBef>
                <a:spcPts val="800"/>
              </a:spcBef>
            </a:pPr>
            <a:r>
              <a:rPr lang="zh-CN" sz="1300" b="1" dirty="0">
                <a:solidFill>
                  <a:srgbClr val="333333"/>
                </a:solidFill>
                <a:latin typeface="Microsoft YaHei"/>
                <a:ea typeface="Microsoft YaHei"/>
              </a:rPr>
              <a:t>■ HIVE Digital在巴拉圭推出BUZZ Cloud AI平台——Tier III级数据中心，300MW水电容量，计划再扩100MW（2026年6月）</a:t>
            </a:r>
          </a:p>
          <a:p>
            <a:pPr marL="0" algn="l">
              <a:spcBef>
                <a:spcPts val="100"/>
              </a:spcBef>
            </a:pPr>
            <a:r>
              <a:rPr lang="zh-CN" sz="800" b="0" dirty="0">
                <a:solidFill>
                  <a:srgbClr val="888888"/>
                </a:solidFill>
                <a:latin typeface="Microsoft YaHei"/>
                <a:ea typeface="Microsoft YaHei"/>
              </a:rPr>
              <a:t>  来源: Proactive Investors / HIVE (NASDAQ)  </a:t>
            </a:r>
          </a:p>
          <a:p>
            <a:pPr marL="0" algn="l">
              <a:spcBef>
                <a:spcPts val="100"/>
              </a:spcBef>
            </a:pPr>
            <a:r>
              <a:rPr lang="zh-CN" sz="1000" b="0" dirty="0">
                <a:solidFill>
                  <a:srgbClr val="333333"/>
                </a:solidFill>
                <a:latin typeface="Microsoft YaHei"/>
                <a:ea typeface="Microsoft YaHei"/>
              </a:rPr>
              <a:t>   HIVE Digital Technologies（纳斯达克：HIVE）在亚松森正式推出BUZZ Cloud AI云平台，托管于Tier III级数据中心，与巴拉圭领先电信运营商合作运营。平台利用巴拉圭国家暗光纤网络及现有300MW剩余水电（Itaipu/Yacyretá），计划2026年内再扩容100MW。GPU集群将为南美洲客户提供AI训练、推理及数据密集型工作负载。HIVE目前在巴拉圭拥有400MW总容量（全球540MW）。</a:t>
            </a:r>
          </a:p>
          <a:p>
            <a:pPr marL="0" algn="l">
              <a:spcBef>
                <a:spcPts val="800"/>
              </a:spcBef>
            </a:pPr>
            <a:r>
              <a:rPr lang="zh-CN" sz="1300" b="1" dirty="0">
                <a:solidFill>
                  <a:srgbClr val="333333"/>
                </a:solidFill>
                <a:latin typeface="Microsoft YaHei"/>
                <a:ea typeface="Microsoft YaHei"/>
              </a:rPr>
              <a:t>■ 巴拉圭-台湾AI数据中心合资企业：一期10MW起步，三期目标1GW“全球最大AI中心”（2026年5月宣布，持续推进中）</a:t>
            </a:r>
          </a:p>
          <a:p>
            <a:pPr marL="0" algn="l">
              <a:spcBef>
                <a:spcPts val="100"/>
              </a:spcBef>
            </a:pPr>
            <a:r>
              <a:rPr lang="zh-CN" sz="800" b="0" dirty="0">
                <a:solidFill>
                  <a:srgbClr val="888888"/>
                </a:solidFill>
                <a:latin typeface="Microsoft YaHei"/>
                <a:ea typeface="Microsoft YaHei"/>
              </a:rPr>
              <a:t>  来源: Agencia IP [政府官网]  </a:t>
            </a:r>
          </a:p>
          <a:p>
            <a:pPr marL="0" algn="l">
              <a:spcBef>
                <a:spcPts val="100"/>
              </a:spcBef>
            </a:pPr>
            <a:r>
              <a:rPr lang="zh-CN" sz="1000" b="0" dirty="0">
                <a:solidFill>
                  <a:srgbClr val="333333"/>
                </a:solidFill>
                <a:latin typeface="Microsoft YaHei"/>
                <a:ea typeface="Microsoft YaHei"/>
              </a:rPr>
              <a:t>   培尼亚总统在施政报告中特别强调与台湾的AI合作：双方50/50合资建设AI数据中心，一期10MW起步、二期扩展至100MW、三期目标约1GW——有望成为全球最大AI数据中心。巴拉圭依托100%可再生水电、Decreto 5306/2026（AI和云计算特别电价，美元计价15年合同期）和Decreto 5307/2026（Power-to-X），将能源优势转化为数字产业竞争力。BID提供1.3亿美元融资支持数字基础设施现代化。</a:t>
            </a:r>
          </a:p>
          <a:p>
            <a:pPr marL="0" algn="l">
              <a:spcBef>
                <a:spcPts val="800"/>
              </a:spcBef>
            </a:pPr>
            <a:r>
              <a:rPr lang="zh-CN" sz="1300" b="1" dirty="0">
                <a:solidFill>
                  <a:srgbClr val="333333"/>
                </a:solidFill>
                <a:latin typeface="Microsoft YaHei"/>
                <a:ea typeface="Microsoft YaHei"/>
              </a:rPr>
              <a:t>■ MITIC数字转型报告：1.8万公里光纤、1,600个Starlink终端、3,234所学校接入互联网（2026年7月）</a:t>
            </a:r>
          </a:p>
          <a:p>
            <a:pPr marL="0" algn="l">
              <a:spcBef>
                <a:spcPts val="100"/>
              </a:spcBef>
            </a:pPr>
            <a:r>
              <a:rPr lang="zh-CN" sz="800" b="0" dirty="0">
                <a:solidFill>
                  <a:srgbClr val="888888"/>
                </a:solidFill>
                <a:latin typeface="Microsoft YaHei"/>
                <a:ea typeface="Microsoft YaHei"/>
              </a:rPr>
              <a:t>  来源: DPL News / MITIC [政府官网]  </a:t>
            </a:r>
          </a:p>
          <a:p>
            <a:pPr marL="0" algn="l">
              <a:spcBef>
                <a:spcPts val="100"/>
              </a:spcBef>
            </a:pPr>
            <a:r>
              <a:rPr lang="zh-CN" sz="1000" b="0" dirty="0">
                <a:solidFill>
                  <a:srgbClr val="333333"/>
                </a:solidFill>
                <a:latin typeface="Microsoft YaHei"/>
                <a:ea typeface="Microsoft YaHei"/>
              </a:rPr>
              <a:t>   培尼亚施政报告高度评价MITIC在数字转型中的关键作用。截至2026年6月：全国光纤网络达18,000公里，包括Ñeembucú省新增超1,000公里；与SpaceX合作部署1,600个Starlink终端服务于偏远学校和医疗中心；在全国400+公共场所提供免费WiFi，惠及超过130万市民；3,234所教育机构接入互联网，受益学生超100万；Villa Hayes国家Tier III数据中心和Innova科技园区在建中。</a:t>
            </a:r>
          </a:p>
        </p:txBody>
      </p:sp>
      <p:sp>
        <p:nvSpPr>
          <p:cNvPr id="105" name="Shape105"/>
          <p:cNvSpPr/>
          <p:nvPr/>
        </p:nvSpPr>
        <p:spPr>
          <a:xfrm>
            <a:off x="0" y="6583680"/>
            <a:ext cx="12192000" cy="274320"/>
          </a:xfrm>
          <a:prstGeom prst="rect">
            <a:avLst/>
          </a:prstGeom>
          <a:solidFill>
            <a:srgbClr val="C41230"/>
          </a:solidFill>
          <a:ln>
            <a:noFill/>
          </a:ln>
        </p:spPr>
      </p:sp>
      <p:sp>
        <p:nvSpPr>
          <p:cNvPr id="106" name="TextBox106"/>
          <p:cNvSpPr>
            <a:spLocks noGrp="1"/>
          </p:cNvSpPr>
          <p:nvPr/>
        </p:nvSpPr>
        <p:spPr>
          <a:xfrm>
            <a:off x="10515600" y="6629400"/>
            <a:ext cx="1371600" cy="182880"/>
          </a:xfrm>
          <a:prstGeom prst="rect">
            <a:avLst/>
          </a:prstGeom>
          <a:noFill/>
        </p:spPr>
        <p:txBody>
          <a:bodyPr wrap="square" lIns="0" tIns="0" rIns="0" bIns="0"/>
          <a:p>
            <a:pPr marL="0" algn="r"/>
            <a:r>
              <a:rPr lang="zh-CN" sz="800" b="0" dirty="0">
                <a:solidFill>
                  <a:srgbClr val="888888"/>
                </a:solidFill>
                <a:latin typeface="Microsoft YaHei"/>
                <a:ea typeface="Microsoft YaHei"/>
              </a:rPr>
              <a:t>7 / 12</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hape100"/>
          <p:cNvSpPr/>
          <p:nvPr/>
        </p:nvSpPr>
        <p:spPr>
          <a:xfrm>
            <a:off x="0" y="0"/>
            <a:ext cx="12192000" cy="1005840"/>
          </a:xfrm>
          <a:prstGeom prst="rect">
            <a:avLst/>
          </a:prstGeom>
          <a:solidFill>
            <a:srgbClr val="1B3A5C"/>
          </a:solidFill>
          <a:ln>
            <a:noFill/>
          </a:ln>
        </p:spPr>
      </p:sp>
      <p:sp>
        <p:nvSpPr>
          <p:cNvPr id="101" name="TextBox101"/>
          <p:cNvSpPr>
            <a:spLocks noGrp="1"/>
          </p:cNvSpPr>
          <p:nvPr/>
        </p:nvSpPr>
        <p:spPr>
          <a:xfrm>
            <a:off x="548640" y="137160"/>
            <a:ext cx="10972800" cy="731520"/>
          </a:xfrm>
          <a:prstGeom prst="rect">
            <a:avLst/>
          </a:prstGeom>
          <a:noFill/>
        </p:spPr>
        <p:txBody>
          <a:bodyPr wrap="square" lIns="0" tIns="0" rIns="0" bIns="0"/>
          <a:p>
            <a:pPr marL="0" algn="l"/>
            <a:r>
              <a:rPr lang="zh-CN" sz="2800" b="1" dirty="0">
                <a:solidFill>
                  <a:srgbClr val="FFFFFF"/>
                </a:solidFill>
                <a:latin typeface="SimHei"/>
                <a:ea typeface="SimHei"/>
              </a:rPr>
              <a:t>六、主要客户动态</a:t>
            </a:r>
          </a:p>
        </p:txBody>
      </p:sp>
      <p:sp>
        <p:nvSpPr>
          <p:cNvPr id="102" name="TextBox102"/>
          <p:cNvSpPr>
            <a:spLocks noGrp="1"/>
          </p:cNvSpPr>
          <p:nvPr/>
        </p:nvSpPr>
        <p:spPr>
          <a:xfrm>
            <a:off x="457200" y="1143000"/>
            <a:ext cx="11155680" cy="5303520"/>
          </a:xfrm>
          <a:prstGeom prst="rect">
            <a:avLst/>
          </a:prstGeom>
          <a:noFill/>
        </p:spPr>
        <p:txBody>
          <a:bodyPr wrap="square" lIns="0" tIns="0" rIns="0" bIns="0"/>
          <a:p>
            <a:pPr marL="0" algn="l"/>
            <a:r>
              <a:rPr lang="zh-CN" sz="1300" b="1" dirty="0">
                <a:solidFill>
                  <a:srgbClr val="333333"/>
                </a:solidFill>
                <a:latin typeface="Microsoft YaHei"/>
                <a:ea typeface="Microsoft YaHei"/>
              </a:rPr>
              <a:t>■ Claro——5G商用启动在即，3,500万美元初期部署，核心网已完成5G改造（2026年7月）</a:t>
            </a:r>
          </a:p>
          <a:p>
            <a:pPr marL="0" algn="l">
              <a:spcBef>
                <a:spcPts val="100"/>
              </a:spcBef>
            </a:pPr>
            <a:r>
              <a:rPr lang="zh-CN" sz="800" b="0" dirty="0">
                <a:solidFill>
                  <a:srgbClr val="888888"/>
                </a:solidFill>
                <a:latin typeface="Microsoft YaHei"/>
                <a:ea typeface="Microsoft YaHei"/>
              </a:rPr>
              <a:t>  来源: BNamericas  </a:t>
            </a:r>
          </a:p>
          <a:p>
            <a:pPr marL="0" algn="l">
              <a:spcBef>
                <a:spcPts val="100"/>
              </a:spcBef>
            </a:pPr>
            <a:r>
              <a:rPr lang="zh-CN" sz="1000" b="0" dirty="0">
                <a:solidFill>
                  <a:srgbClr val="333333"/>
                </a:solidFill>
                <a:latin typeface="Microsoft YaHei"/>
                <a:ea typeface="Microsoft YaHei"/>
              </a:rPr>
              <a:t>   Claro（América Móvil）在2025年8月拍卖中赢得3.5-3.7GHz频段200MHz频谱（许可费约200万美元），初期投资3,500万美元在12个重点都市区部署5G。根据6个月部署义务，商业服务预计2026年Q2在大亚松森地区率先开通。移动核心网已完成5G升级。每100MHz需部署100个基站，其中10%服务政府机构。Claro有望成为巴拉圭首家商用5G的主要运营商。</a:t>
            </a:r>
          </a:p>
          <a:p>
            <a:pPr marL="0" algn="l">
              <a:spcBef>
                <a:spcPts val="800"/>
              </a:spcBef>
            </a:pPr>
            <a:r>
              <a:rPr lang="zh-CN" sz="1300" b="1" dirty="0">
                <a:solidFill>
                  <a:srgbClr val="333333"/>
                </a:solidFill>
                <a:latin typeface="Microsoft YaHei"/>
                <a:ea typeface="Microsoft YaHei"/>
              </a:rPr>
              <a:t>■ Tigo——未参与5G频谱拍卖，专注4G/光纤扩建，获BID Invest+Proparco 1亿美元融资（2026年7月）</a:t>
            </a:r>
          </a:p>
          <a:p>
            <a:pPr marL="0" algn="l">
              <a:spcBef>
                <a:spcPts val="100"/>
              </a:spcBef>
            </a:pPr>
            <a:r>
              <a:rPr lang="zh-CN" sz="800" b="0" dirty="0">
                <a:solidFill>
                  <a:srgbClr val="888888"/>
                </a:solidFill>
                <a:latin typeface="Microsoft YaHei"/>
                <a:ea typeface="Microsoft YaHei"/>
              </a:rPr>
              <a:t>  来源: BID Invest / BNamericas  </a:t>
            </a:r>
          </a:p>
          <a:p>
            <a:pPr marL="0" algn="l">
              <a:spcBef>
                <a:spcPts val="100"/>
              </a:spcBef>
            </a:pPr>
            <a:r>
              <a:rPr lang="zh-CN" sz="1000" b="0" dirty="0">
                <a:solidFill>
                  <a:srgbClr val="333333"/>
                </a:solidFill>
                <a:latin typeface="Microsoft YaHei"/>
                <a:ea typeface="Microsoft YaHei"/>
              </a:rPr>
              <a:t>   Tigo（Millicom）作为巴拉圭最大移动运营商（用户320万，市场份额47.3%），因中国供应商（华为/中兴）限制条款退出2025年8月5G频谱拍卖。公司当前聚焦：3G向4G迁移、光纤到户（FTTH）扩张、Tigo Money金融科技增长。2026年3月，BID Invest和Proparco联合向Millicom投资1亿美元（哥伦比亚比索私募债券），覆盖巴拉圭等7国4G/4.5G/5G和光纤网络扩展。2026年1月，Tigo巴拉圭完成7,700万美元瓜拉尼本币债券历史性发行。公司持续与政府就5G频谱替代方案进行谈判。</a:t>
            </a:r>
          </a:p>
          <a:p>
            <a:pPr marL="0" algn="l">
              <a:spcBef>
                <a:spcPts val="800"/>
              </a:spcBef>
            </a:pPr>
            <a:r>
              <a:rPr lang="zh-CN" sz="1300" b="1" dirty="0">
                <a:solidFill>
                  <a:srgbClr val="333333"/>
                </a:solidFill>
                <a:latin typeface="Microsoft YaHei"/>
                <a:ea typeface="Microsoft YaHei"/>
              </a:rPr>
              <a:t>■ Personal——未参与5G拍卖，坚持低成本定位，面临被Nubicom取代第三大运营商的风险（2026年7月）</a:t>
            </a:r>
          </a:p>
          <a:p>
            <a:pPr marL="0" algn="l">
              <a:spcBef>
                <a:spcPts val="100"/>
              </a:spcBef>
            </a:pPr>
            <a:r>
              <a:rPr lang="zh-CN" sz="800" b="0" dirty="0">
                <a:solidFill>
                  <a:srgbClr val="888888"/>
                </a:solidFill>
                <a:latin typeface="Microsoft YaHei"/>
                <a:ea typeface="Microsoft YaHei"/>
              </a:rPr>
              <a:t>  来源: BNamericas  </a:t>
            </a:r>
          </a:p>
          <a:p>
            <a:pPr marL="0" algn="l">
              <a:spcBef>
                <a:spcPts val="100"/>
              </a:spcBef>
            </a:pPr>
            <a:r>
              <a:rPr lang="zh-CN" sz="1000" b="0" dirty="0">
                <a:solidFill>
                  <a:srgbClr val="333333"/>
                </a:solidFill>
                <a:latin typeface="Microsoft YaHei"/>
                <a:ea typeface="Microsoft YaHei"/>
              </a:rPr>
              <a:t>   Personal（Telecom Argentina旗下）拥有约240万用户（市场份额35.5%），因中国设备供应商限制同样未参与5G频谱拍卖，且未公布独立5G部署计划。公司继续聚焦低成本细分市场，网络覆盖集中在城市区域，Asunción以外覆盖能力较弱。若无法升级网络，可能被Nubicom取代失去第三大移动运营商地位。未有显著的基础设施投资公告。</a:t>
            </a:r>
          </a:p>
          <a:p>
            <a:pPr marL="0" algn="l">
              <a:spcBef>
                <a:spcPts val="800"/>
              </a:spcBef>
            </a:pPr>
            <a:r>
              <a:rPr lang="zh-CN" sz="1300" b="1" dirty="0">
                <a:solidFill>
                  <a:srgbClr val="333333"/>
                </a:solidFill>
                <a:latin typeface="Microsoft YaHei"/>
                <a:ea typeface="Microsoft YaHei"/>
              </a:rPr>
              <a:t>■ Nubicom——新进入者，宣布2亿美元5G建设投资，从零构建移动网络，预计2026年Q2启动商用（2026年7月）</a:t>
            </a:r>
          </a:p>
          <a:p>
            <a:pPr marL="0" algn="l">
              <a:spcBef>
                <a:spcPts val="100"/>
              </a:spcBef>
            </a:pPr>
            <a:r>
              <a:rPr lang="zh-CN" sz="800" b="0" dirty="0">
                <a:solidFill>
                  <a:srgbClr val="888888"/>
                </a:solidFill>
                <a:latin typeface="Microsoft YaHei"/>
                <a:ea typeface="Microsoft YaHei"/>
              </a:rPr>
              <a:t>  来源: DataCenterDynamics / BNamericas  </a:t>
            </a:r>
          </a:p>
          <a:p>
            <a:pPr marL="0" algn="l">
              <a:spcBef>
                <a:spcPts val="100"/>
              </a:spcBef>
            </a:pPr>
            <a:r>
              <a:rPr lang="zh-CN" sz="1000" b="0" dirty="0">
                <a:solidFill>
                  <a:srgbClr val="333333"/>
                </a:solidFill>
                <a:latin typeface="Microsoft YaHei"/>
                <a:ea typeface="Microsoft YaHei"/>
              </a:rPr>
              <a:t>   Nubicom（阿根廷萨尔塔省固网运营商）在5G拍卖中赢得3.3-3.5GHz频段200MHz频谱（许可费约200万美元），宣布2亿美元投资建设巴拉圭迄今最大规模5G网络。公司须在6周内成立本地子公司，从零开始构建移动基础设施，每100MHz需部署至少100个基站。作为此前仅在阿根廷提供固网服务的运营商，从零建设移动网络面临巨大挑战，但也为设备供应商和基础设施合作伙伴提供了全新市场机会。</a:t>
            </a:r>
          </a:p>
        </p:txBody>
      </p:sp>
      <p:sp>
        <p:nvSpPr>
          <p:cNvPr id="105" name="Shape105"/>
          <p:cNvSpPr/>
          <p:nvPr/>
        </p:nvSpPr>
        <p:spPr>
          <a:xfrm>
            <a:off x="0" y="6583680"/>
            <a:ext cx="12192000" cy="274320"/>
          </a:xfrm>
          <a:prstGeom prst="rect">
            <a:avLst/>
          </a:prstGeom>
          <a:solidFill>
            <a:srgbClr val="C41230"/>
          </a:solidFill>
          <a:ln>
            <a:noFill/>
          </a:ln>
        </p:spPr>
      </p:sp>
      <p:sp>
        <p:nvSpPr>
          <p:cNvPr id="106" name="TextBox106"/>
          <p:cNvSpPr>
            <a:spLocks noGrp="1"/>
          </p:cNvSpPr>
          <p:nvPr/>
        </p:nvSpPr>
        <p:spPr>
          <a:xfrm>
            <a:off x="10515600" y="6629400"/>
            <a:ext cx="1371600" cy="182880"/>
          </a:xfrm>
          <a:prstGeom prst="rect">
            <a:avLst/>
          </a:prstGeom>
          <a:noFill/>
        </p:spPr>
        <p:txBody>
          <a:bodyPr wrap="square" lIns="0" tIns="0" rIns="0" bIns="0"/>
          <a:p>
            <a:pPr marL="0" algn="r"/>
            <a:r>
              <a:rPr lang="zh-CN" sz="800" b="0" dirty="0">
                <a:solidFill>
                  <a:srgbClr val="888888"/>
                </a:solidFill>
                <a:latin typeface="Microsoft YaHei"/>
                <a:ea typeface="Microsoft YaHei"/>
              </a:rPr>
              <a:t>8 / 12</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hape100"/>
          <p:cNvSpPr/>
          <p:nvPr/>
        </p:nvSpPr>
        <p:spPr>
          <a:xfrm>
            <a:off x="0" y="0"/>
            <a:ext cx="12192000" cy="6858000"/>
          </a:xfrm>
          <a:prstGeom prst="rect">
            <a:avLst/>
          </a:prstGeom>
          <a:solidFill>
            <a:srgbClr val="1B3A5C"/>
          </a:solidFill>
          <a:ln>
            <a:noFill/>
          </a:ln>
        </p:spPr>
      </p:sp>
      <p:sp>
        <p:nvSpPr>
          <p:cNvPr id="101" name="TextBox101"/>
          <p:cNvSpPr>
            <a:spLocks noGrp="1"/>
          </p:cNvSpPr>
          <p:nvPr/>
        </p:nvSpPr>
        <p:spPr>
          <a:xfrm>
            <a:off x="1371600" y="1554480"/>
            <a:ext cx="9418320" cy="1828800"/>
          </a:xfrm>
          <a:prstGeom prst="rect">
            <a:avLst/>
          </a:prstGeom>
          <a:noFill/>
        </p:spPr>
        <p:txBody>
          <a:bodyPr wrap="square" lIns="0" tIns="0" rIns="0" bIns="0"/>
          <a:p>
            <a:pPr marL="0" algn="ctr"/>
            <a:r>
              <a:rPr lang="zh-CN" sz="3600" b="1" dirty="0">
                <a:solidFill>
                  <a:srgbClr val="FFFFFF"/>
                </a:solidFill>
                <a:latin typeface="SimHei"/>
                <a:ea typeface="SimHei"/>
              </a:rPr>
              <a:t>Part II: Analysis &amp; Recommendations</a:t>
            </a:r>
          </a:p>
        </p:txBody>
      </p:sp>
      <p:sp>
        <p:nvSpPr>
          <p:cNvPr id="102" name="TextBox102"/>
          <p:cNvSpPr>
            <a:spLocks noGrp="1"/>
          </p:cNvSpPr>
          <p:nvPr/>
        </p:nvSpPr>
        <p:spPr>
          <a:xfrm>
            <a:off x="2286000" y="3383280"/>
            <a:ext cx="7589520" cy="1371600"/>
          </a:xfrm>
          <a:prstGeom prst="rect">
            <a:avLst/>
          </a:prstGeom>
          <a:noFill/>
        </p:spPr>
        <p:txBody>
          <a:bodyPr wrap="square" lIns="0" tIns="0" rIns="0" bIns="0"/>
          <a:p>
            <a:pPr marL="0" algn="ctr"/>
            <a:r>
              <a:rPr lang="zh-CN" sz="1600" b="0" dirty="0">
                <a:solidFill>
                  <a:srgbClr val="AABBCC"/>
                </a:solidFill>
                <a:latin typeface="Microsoft YaHei"/>
                <a:ea typeface="Microsoft YaHei"/>
              </a:rPr>
              <a:t>Enterprise impact assessment and China-specific strategic recommendations</a:t>
            </a:r>
          </a:p>
        </p:txBody>
      </p:sp>
      <p:sp>
        <p:nvSpPr>
          <p:cNvPr id="103" name="Shape103"/>
          <p:cNvSpPr/>
          <p:nvPr/>
        </p:nvSpPr>
        <p:spPr>
          <a:xfrm>
            <a:off x="5029200" y="3017520"/>
            <a:ext cx="2103120" cy="54864"/>
          </a:xfrm>
          <a:prstGeom prst="rect">
            <a:avLst/>
          </a:prstGeom>
          <a:solidFill>
            <a:srgbClr val="C41230"/>
          </a:solidFill>
          <a:ln>
            <a:noFill/>
          </a:ln>
        </p:spPr>
      </p:sp>
      <p:sp>
        <p:nvSpPr>
          <p:cNvPr id="104" name="TextBox104"/>
          <p:cNvSpPr>
            <a:spLocks noGrp="1"/>
          </p:cNvSpPr>
          <p:nvPr/>
        </p:nvSpPr>
        <p:spPr>
          <a:xfrm>
            <a:off x="10515600" y="6629400"/>
            <a:ext cx="1371600" cy="182880"/>
          </a:xfrm>
          <a:prstGeom prst="rect">
            <a:avLst/>
          </a:prstGeom>
          <a:noFill/>
        </p:spPr>
        <p:txBody>
          <a:bodyPr wrap="square" lIns="0" tIns="0" rIns="0" bIns="0"/>
          <a:p>
            <a:pPr marL="0" algn="r"/>
            <a:r>
              <a:rPr lang="zh-CN" sz="800" b="0" dirty="0">
                <a:solidFill>
                  <a:srgbClr val="8899AA"/>
                </a:solidFill>
                <a:latin typeface="Microsoft YaHei"/>
                <a:ea typeface="Microsoft YaHei"/>
              </a:rPr>
              <a:t>9 / 12</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hape100"/>
          <p:cNvSpPr/>
          <p:nvPr/>
        </p:nvSpPr>
        <p:spPr>
          <a:xfrm>
            <a:off x="0" y="0"/>
            <a:ext cx="12192000" cy="1005840"/>
          </a:xfrm>
          <a:prstGeom prst="rect">
            <a:avLst/>
          </a:prstGeom>
          <a:solidFill>
            <a:srgbClr val="1B3A5C"/>
          </a:solidFill>
          <a:ln>
            <a:noFill/>
          </a:ln>
        </p:spPr>
      </p:sp>
      <p:sp>
        <p:nvSpPr>
          <p:cNvPr id="101" name="TextBox101"/>
          <p:cNvSpPr>
            <a:spLocks noGrp="1"/>
          </p:cNvSpPr>
          <p:nvPr/>
        </p:nvSpPr>
        <p:spPr>
          <a:xfrm>
            <a:off x="548640" y="137160"/>
            <a:ext cx="10972800" cy="731520"/>
          </a:xfrm>
          <a:prstGeom prst="rect">
            <a:avLst/>
          </a:prstGeom>
          <a:noFill/>
        </p:spPr>
        <p:txBody>
          <a:bodyPr wrap="square" lIns="0" tIns="0" rIns="0" bIns="0"/>
          <a:p>
            <a:pPr marL="0" algn="l"/>
            <a:r>
              <a:rPr lang="zh-CN" sz="2800" b="1" dirty="0">
                <a:solidFill>
                  <a:srgbClr val="FFFFFF"/>
                </a:solidFill>
                <a:latin typeface="SimHei"/>
                <a:ea typeface="SimHei"/>
              </a:rPr>
              <a:t>七、对企业经营的综合影响分析</a:t>
            </a:r>
          </a:p>
        </p:txBody>
      </p:sp>
      <p:sp>
        <p:nvSpPr>
          <p:cNvPr id="103" name="TextBox103"/>
          <p:cNvSpPr>
            <a:spLocks noGrp="1"/>
          </p:cNvSpPr>
          <p:nvPr/>
        </p:nvSpPr>
        <p:spPr>
          <a:xfrm>
            <a:off x="457200" y="1143000"/>
            <a:ext cx="11155680" cy="2560320"/>
          </a:xfrm>
          <a:prstGeom prst="rect">
            <a:avLst/>
          </a:prstGeom>
          <a:noFill/>
        </p:spPr>
        <p:txBody>
          <a:bodyPr wrap="square" lIns="0" tIns="0" rIns="0" bIns="0"/>
          <a:p>
            <a:pPr marL="0" algn="l">
              <a:spcBef>
                <a:spcPts val="600"/>
              </a:spcBef>
            </a:pPr>
            <a:r>
              <a:rPr lang="zh-CN" sz="1300" b="1" dirty="0">
                <a:solidFill>
                  <a:srgbClr val="1B3A5C"/>
                </a:solidFill>
                <a:latin typeface="Microsoft YaHei"/>
                <a:ea typeface="Microsoft YaHei"/>
              </a:rPr>
              <a:t>一、成本维度 🟡</a:t>
            </a:r>
          </a:p>
          <a:p>
            <a:pPr marL="0" algn="l">
              <a:spcBef>
                <a:spcPts val="100"/>
              </a:spcBef>
            </a:pPr>
            <a:r>
              <a:rPr lang="zh-CN" sz="1000" b="0" dirty="0">
                <a:solidFill>
                  <a:srgbClr val="333333"/>
                </a:solidFill>
                <a:latin typeface="Microsoft YaHei"/>
                <a:ea typeface="Microsoft YaHei"/>
              </a:rPr>
              <a:t>基于本周数据对成本压力的综合评估：</a:t>
            </a:r>
          </a:p>
          <a:p>
            <a:pPr marL="0" algn="l">
              <a:spcBef>
                <a:spcPts val="100"/>
              </a:spcBef>
            </a:pPr>
            <a:r>
              <a:rPr lang="zh-CN" sz="1000" b="0" dirty="0">
                <a:solidFill>
                  <a:srgbClr val="333333"/>
                </a:solidFill>
                <a:latin typeface="Microsoft YaHei"/>
                <a:ea typeface="Microsoft YaHei"/>
              </a:rPr>
              <a:t>- **汇率成本**：瓜拉尼同比升值21.9%（USD/PYG从7,784降至6,082），是区域升值幅度最大的货币之一。以瓜拉尼计价的运营成本（本地薪资、服务采购）折算美元后大幅上升，压缩出口导向型企业的利润空间。但进口设备和原材料成本显著降低，利好依赖进口的电信、数据中心等行业。</a:t>
            </a:r>
          </a:p>
          <a:p>
            <a:pPr marL="0" algn="l">
              <a:spcBef>
                <a:spcPts val="100"/>
              </a:spcBef>
            </a:pPr>
            <a:r>
              <a:rPr lang="zh-CN" sz="1000" b="0" dirty="0">
                <a:solidFill>
                  <a:srgbClr val="333333"/>
                </a:solidFill>
                <a:latin typeface="Microsoft YaHei"/>
                <a:ea typeface="Microsoft YaHei"/>
              </a:rPr>
              <a:t>- **劳动力成本**：最低工资5%的温和上调（自7月1日起生效）符合通胀水平（6月CPI同比仅2.09%），实际单位劳动成本基本可控。正式就业率突破40%，IPS参保人数突破84.2万，劳动力市场趋紧但工资压力温和。</a:t>
            </a:r>
          </a:p>
          <a:p>
            <a:pPr marL="0" algn="l">
              <a:spcBef>
                <a:spcPts val="100"/>
              </a:spcBef>
            </a:pPr>
            <a:r>
              <a:rPr lang="zh-CN" sz="1000" b="0" dirty="0">
                <a:solidFill>
                  <a:srgbClr val="333333"/>
                </a:solidFill>
                <a:latin typeface="Microsoft YaHei"/>
                <a:ea typeface="Microsoft YaHei"/>
              </a:rPr>
              <a:t>- **能源成本**：Decreto 5306/2026和5307/2026提供美元计价、最长15年固定期限的特别电价，为数据中心和AI企业创造了全球最具竞争力的能源成本结构之一。HIVE Digital和X8 Cloud的落地验证了这一优势。但Villeta项目电价政策逆转（1月总统令被6月撤销）提醒企业：能源成本仍取决于政策连续性。</a:t>
            </a:r>
          </a:p>
          <a:p>
            <a:pPr marL="0" algn="l">
              <a:spcBef>
                <a:spcPts val="100"/>
              </a:spcBef>
            </a:pPr>
            <a:r>
              <a:rPr lang="zh-CN" sz="1000" b="0" dirty="0">
                <a:solidFill>
                  <a:srgbClr val="333333"/>
                </a:solidFill>
                <a:latin typeface="Microsoft YaHei"/>
                <a:ea typeface="Microsoft YaHei"/>
              </a:rPr>
              <a:t>- **税收成本**：强势瓜拉尼导致海关税收同比下降11.6%（尽管进口量+7%），DNIT上半年总收入仅增1.8%，远低于全年13.4%的增收目标。这可能引发下半年出台新的税收征管措施或调整部分税收政策以弥补财政缺口。</a:t>
            </a:r>
          </a:p>
          <a:p>
            <a:pPr marL="0" algn="l">
              <a:spcBef>
                <a:spcPts val="600"/>
              </a:spcBef>
            </a:pPr>
            <a:r>
              <a:rPr lang="zh-CN" sz="1300" b="1" dirty="0">
                <a:solidFill>
                  <a:srgbClr val="1B3A5C"/>
                </a:solidFill>
                <a:latin typeface="Microsoft YaHei"/>
                <a:ea typeface="Microsoft YaHei"/>
              </a:rPr>
              <a:t>二、市场维度 🟢</a:t>
            </a:r>
          </a:p>
          <a:p>
            <a:pPr marL="0" algn="l">
              <a:spcBef>
                <a:spcPts val="100"/>
              </a:spcBef>
            </a:pPr>
            <a:r>
              <a:rPr lang="zh-CN" sz="1000" b="0" dirty="0">
                <a:solidFill>
                  <a:srgbClr val="333333"/>
                </a:solidFill>
                <a:latin typeface="Microsoft YaHei"/>
                <a:ea typeface="Microsoft YaHei"/>
              </a:rPr>
              <a:t>巴拉圭市场机遇在数字基础设施和投资便利化领域显著扩大：</a:t>
            </a:r>
          </a:p>
          <a:p>
            <a:pPr marL="0" algn="l">
              <a:spcBef>
                <a:spcPts val="100"/>
              </a:spcBef>
            </a:pPr>
            <a:r>
              <a:rPr lang="zh-CN" sz="1000" b="0" dirty="0">
                <a:solidFill>
                  <a:srgbClr val="333333"/>
                </a:solidFill>
                <a:latin typeface="Microsoft YaHei"/>
                <a:ea typeface="Microsoft YaHei"/>
              </a:rPr>
              <a:t>- **5G与电信设备市场**：CONATEL新一轮2.3/3.5GHz频谱招标即将在下半年启动，为电信设备和基础设施供应商创造新一轮采购机会。Claro和Nubicom的5G部署义务（各100个基站/100MHz）意味着短期内至少200个5G基站的设备和工程服务需求。美国支持的设备排除政策利好非中国供应商。</a:t>
            </a:r>
          </a:p>
          <a:p>
            <a:pPr marL="0" algn="l">
              <a:spcBef>
                <a:spcPts val="100"/>
              </a:spcBef>
            </a:pPr>
            <a:r>
              <a:rPr lang="zh-CN" sz="1000" b="0" dirty="0">
                <a:solidFill>
                  <a:srgbClr val="333333"/>
                </a:solidFill>
                <a:latin typeface="Microsoft YaHei"/>
                <a:ea typeface="Microsoft YaHei"/>
              </a:rPr>
              <a:t>- **AI与数据中心产业链**：HIVE BUZZ Cloud平台上线、台巴AI数据中心合资项目（一期10MW→三期1GW）和X8 Cloud项目（长期500亿美元）将拉动数据中心建设相关需求：电力设备、冷却系统、光纤连接、网络安全、专业IT服务。IDB 1.3亿美元数字基础设施融资提供了额外资金支持。</a:t>
            </a:r>
          </a:p>
          <a:p>
            <a:pPr marL="0" algn="l">
              <a:spcBef>
                <a:spcPts val="100"/>
              </a:spcBef>
            </a:pPr>
            <a:r>
              <a:rPr lang="zh-CN" sz="1000" b="0" dirty="0">
                <a:solidFill>
                  <a:srgbClr val="333333"/>
                </a:solidFill>
                <a:latin typeface="Microsoft YaHei"/>
                <a:ea typeface="Microsoft YaHei"/>
              </a:rPr>
              <a:t>- **基础设施与物流**：铁路开放法（7665/2026）引入Etihad Rail的4.8亿美元通勤铁路项目，创造了轨交设备、工程和运营服务的市场机会。G2G模式下的不可撤销美元支付安排为供应商提供了付款保障。</a:t>
            </a:r>
          </a:p>
          <a:p>
            <a:pPr marL="0" algn="l">
              <a:spcBef>
                <a:spcPts val="100"/>
              </a:spcBef>
            </a:pPr>
            <a:r>
              <a:rPr lang="zh-CN" sz="1000" b="0" dirty="0">
                <a:solidFill>
                  <a:srgbClr val="333333"/>
                </a:solidFill>
                <a:latin typeface="Microsoft YaHei"/>
                <a:ea typeface="Microsoft YaHei"/>
              </a:rPr>
              <a:t>- **欧盟市场准入**：EU-Mercosur FTA自5月1日临时生效，但配额分配争议悬而未决。若巴拉圭成功争取25%配额，牛肉、禽肉、糖等产品的出口将大幅增长。反之，如果'先到先得'维持现状，阿根廷和巴西将继续占据大部分配额。</a:t>
            </a:r>
          </a:p>
          <a:p>
            <a:pPr marL="0" algn="l">
              <a:spcBef>
                <a:spcPts val="600"/>
              </a:spcBef>
            </a:pPr>
            <a:r>
              <a:rPr lang="zh-CN" sz="1300" b="1" dirty="0">
                <a:solidFill>
                  <a:srgbClr val="1B3A5C"/>
                </a:solidFill>
                <a:latin typeface="Microsoft YaHei"/>
                <a:ea typeface="Microsoft YaHei"/>
              </a:rPr>
              <a:t>三、合规维度 🟡</a:t>
            </a:r>
          </a:p>
          <a:p>
            <a:pPr marL="0" algn="l">
              <a:spcBef>
                <a:spcPts val="100"/>
              </a:spcBef>
            </a:pPr>
            <a:r>
              <a:rPr lang="zh-CN" sz="1000" b="0" dirty="0">
                <a:solidFill>
                  <a:srgbClr val="333333"/>
                </a:solidFill>
                <a:latin typeface="Microsoft YaHei"/>
                <a:ea typeface="Microsoft YaHei"/>
              </a:rPr>
              <a:t>合规环境总体向好，但需关注政策波动：</a:t>
            </a:r>
          </a:p>
          <a:p>
            <a:pPr marL="0" algn="l">
              <a:spcBef>
                <a:spcPts val="100"/>
              </a:spcBef>
            </a:pPr>
            <a:r>
              <a:rPr lang="zh-CN" sz="1000" b="0" dirty="0">
                <a:solidFill>
                  <a:srgbClr val="333333"/>
                </a:solidFill>
                <a:latin typeface="Microsoft YaHei"/>
                <a:ea typeface="Microsoft YaHei"/>
              </a:rPr>
              <a:t>- **投资便利化**：投资者通行证（Decreto 0283/2026）和更新版移民局要求已生效，四条投资路径（最低7万美元/10个就业→永久居留）清晰可行，股息税率从15%降至8%为投资者带来实质性收益。</a:t>
            </a:r>
          </a:p>
          <a:p>
            <a:pPr marL="0" algn="l">
              <a:spcBef>
                <a:spcPts val="100"/>
              </a:spcBef>
            </a:pPr>
            <a:r>
              <a:rPr lang="zh-CN" sz="1000" b="0" dirty="0">
                <a:solidFill>
                  <a:srgbClr val="333333"/>
                </a:solidFill>
                <a:latin typeface="Microsoft YaHei"/>
                <a:ea typeface="Microsoft YaHei"/>
              </a:rPr>
              <a:t>- **税收协定**：智利双重征税协定的签署标志着巴拉圭税务合规框架进一步国际化，面向跨境投资者的预扣税率降低将改善投资回报。</a:t>
            </a:r>
          </a:p>
          <a:p>
            <a:pPr marL="0" algn="l">
              <a:spcBef>
                <a:spcPts val="100"/>
              </a:spcBef>
            </a:pPr>
            <a:r>
              <a:rPr lang="zh-CN" sz="1000" b="0" dirty="0">
                <a:solidFill>
                  <a:srgbClr val="333333"/>
                </a:solidFill>
                <a:latin typeface="Microsoft YaHei"/>
                <a:ea typeface="Microsoft YaHei"/>
              </a:rPr>
              <a:t>- **劳动合规**：WhatsApp最低工资投诉热线开通表明执法力度加强，在7月1日工资调整后企业应及时完成薪酬合规审查。</a:t>
            </a:r>
          </a:p>
          <a:p>
            <a:pPr marL="0" algn="l">
              <a:spcBef>
                <a:spcPts val="100"/>
              </a:spcBef>
            </a:pPr>
            <a:r>
              <a:rPr lang="zh-CN" sz="1000" b="0" dirty="0">
                <a:solidFill>
                  <a:srgbClr val="333333"/>
                </a:solidFill>
                <a:latin typeface="Microsoft YaHei"/>
                <a:ea typeface="Microsoft YaHei"/>
              </a:rPr>
              <a:t>- **财政风险**：IMF第四条磋商指出，2026年赤字可能因供应商欠款清理（建筑商2.2亿美元+药企约5亿美元）超出目标。虽然短期无碍投资级评级，但需关注潜在的税收政策调整以弥补缺口。</a:t>
            </a:r>
          </a:p>
          <a:p>
            <a:pPr marL="0" algn="l">
              <a:spcBef>
                <a:spcPts val="600"/>
              </a:spcBef>
            </a:pPr>
            <a:r>
              <a:rPr lang="zh-CN" sz="1300" b="1" dirty="0">
                <a:solidFill>
                  <a:srgbClr val="1B3A5C"/>
                </a:solidFill>
                <a:latin typeface="Microsoft YaHei"/>
                <a:ea typeface="Microsoft YaHei"/>
              </a:rPr>
              <a:t>综合评估</a:t>
            </a:r>
          </a:p>
          <a:p>
            <a:pPr marL="0" algn="l">
              <a:spcBef>
                <a:spcPts val="100"/>
              </a:spcBef>
            </a:pPr>
            <a:r>
              <a:rPr lang="zh-CN" sz="1000" b="0" dirty="0">
                <a:solidFill>
                  <a:srgbClr val="333333"/>
                </a:solidFill>
                <a:latin typeface="Microsoft YaHei"/>
                <a:ea typeface="Microsoft YaHei"/>
              </a:rPr>
              <a:t>本周监测的24项事件（其中8项来自政府渠道）呈现以下图景：巴拉圭宏观经济持续强劲（IMF预测2026年GDP增长4.4%，通胀2.09%远低于目标），但在强势瓜拉尼冲击税收和边境贸易、EU-Mercosur配额争议白热化、能源政策偶发逆转的背景下，企业需保持风险管理敏感度。数字基础设施和AI领域的投资浪潮是本周期最突出的结构性和机遇。</a:t>
            </a:r>
          </a:p>
        </p:txBody>
      </p:sp>
      <p:sp>
        <p:nvSpPr>
          <p:cNvPr id="105" name="Shape105"/>
          <p:cNvSpPr/>
          <p:nvPr/>
        </p:nvSpPr>
        <p:spPr>
          <a:xfrm>
            <a:off x="0" y="6583680"/>
            <a:ext cx="12192000" cy="274320"/>
          </a:xfrm>
          <a:prstGeom prst="rect">
            <a:avLst/>
          </a:prstGeom>
          <a:solidFill>
            <a:srgbClr val="C41230"/>
          </a:solidFill>
          <a:ln>
            <a:noFill/>
          </a:ln>
        </p:spPr>
      </p:sp>
      <p:sp>
        <p:nvSpPr>
          <p:cNvPr id="106" name="TextBox106"/>
          <p:cNvSpPr>
            <a:spLocks noGrp="1"/>
          </p:cNvSpPr>
          <p:nvPr/>
        </p:nvSpPr>
        <p:spPr>
          <a:xfrm>
            <a:off x="10515600" y="6629400"/>
            <a:ext cx="1371600" cy="182880"/>
          </a:xfrm>
          <a:prstGeom prst="rect">
            <a:avLst/>
          </a:prstGeom>
          <a:noFill/>
        </p:spPr>
        <p:txBody>
          <a:bodyPr wrap="square" lIns="0" tIns="0" rIns="0" bIns="0"/>
          <a:p>
            <a:pPr marL="0" algn="r"/>
            <a:r>
              <a:rPr lang="zh-CN" sz="800" b="0" dirty="0">
                <a:solidFill>
                  <a:srgbClr val="888888"/>
                </a:solidFill>
                <a:latin typeface="Microsoft YaHei"/>
                <a:ea typeface="Microsoft YaHei"/>
              </a:rPr>
              <a:t>10 / 12</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hape100"/>
          <p:cNvSpPr/>
          <p:nvPr/>
        </p:nvSpPr>
        <p:spPr>
          <a:xfrm>
            <a:off x="0" y="0"/>
            <a:ext cx="12192000" cy="1005840"/>
          </a:xfrm>
          <a:prstGeom prst="rect">
            <a:avLst/>
          </a:prstGeom>
          <a:solidFill>
            <a:srgbClr val="1B3A5C"/>
          </a:solidFill>
          <a:ln>
            <a:noFill/>
          </a:ln>
        </p:spPr>
      </p:sp>
      <p:sp>
        <p:nvSpPr>
          <p:cNvPr id="101" name="TextBox101"/>
          <p:cNvSpPr>
            <a:spLocks noGrp="1"/>
          </p:cNvSpPr>
          <p:nvPr/>
        </p:nvSpPr>
        <p:spPr>
          <a:xfrm>
            <a:off x="548640" y="137160"/>
            <a:ext cx="10972800" cy="731520"/>
          </a:xfrm>
          <a:prstGeom prst="rect">
            <a:avLst/>
          </a:prstGeom>
          <a:noFill/>
        </p:spPr>
        <p:txBody>
          <a:bodyPr wrap="square" lIns="0" tIns="0" rIns="0" bIns="0"/>
          <a:p>
            <a:pPr marL="0" algn="l"/>
            <a:r>
              <a:rPr lang="zh-CN" sz="2800" b="1" dirty="0">
                <a:solidFill>
                  <a:srgbClr val="FFFFFF"/>
                </a:solidFill>
                <a:latin typeface="SimHei"/>
                <a:ea typeface="SimHei"/>
              </a:rPr>
              <a:t>八、对中资企业的专项影响与建议</a:t>
            </a:r>
          </a:p>
        </p:txBody>
      </p:sp>
      <p:sp>
        <p:nvSpPr>
          <p:cNvPr id="103" name="TextBox103"/>
          <p:cNvSpPr>
            <a:spLocks noGrp="1"/>
          </p:cNvSpPr>
          <p:nvPr/>
        </p:nvSpPr>
        <p:spPr>
          <a:xfrm>
            <a:off x="457200" y="1143000"/>
            <a:ext cx="11155680" cy="2560320"/>
          </a:xfrm>
          <a:prstGeom prst="rect">
            <a:avLst/>
          </a:prstGeom>
          <a:noFill/>
        </p:spPr>
        <p:txBody>
          <a:bodyPr wrap="square" lIns="0" tIns="0" rIns="0" bIns="0"/>
          <a:p>
            <a:pPr marL="0" algn="l">
              <a:spcBef>
                <a:spcPts val="600"/>
              </a:spcBef>
            </a:pPr>
            <a:r>
              <a:rPr lang="zh-CN" sz="1300" b="1" dirty="0">
                <a:solidFill>
                  <a:srgbClr val="1B3A5C"/>
                </a:solidFill>
                <a:latin typeface="Microsoft YaHei"/>
                <a:ea typeface="Microsoft YaHei"/>
              </a:rPr>
              <a:t>一、风险预警</a:t>
            </a:r>
          </a:p>
          <a:p>
            <a:pPr marL="0" algn="l">
              <a:spcBef>
                <a:spcPts val="100"/>
              </a:spcBef>
            </a:pPr>
            <a:r>
              <a:rPr lang="zh-CN" sz="1000" b="0" dirty="0">
                <a:solidFill>
                  <a:srgbClr val="333333"/>
                </a:solidFill>
                <a:latin typeface="Microsoft YaHei"/>
                <a:ea typeface="Microsoft YaHei"/>
              </a:rPr>
              <a:t>🔴 **高优先级：**</a:t>
            </a:r>
          </a:p>
          <a:p>
            <a:pPr marL="0" algn="l">
              <a:spcBef>
                <a:spcPts val="100"/>
              </a:spcBef>
            </a:pPr>
            <a:r>
              <a:rPr lang="zh-CN" sz="1000" b="0" dirty="0">
                <a:solidFill>
                  <a:srgbClr val="333333"/>
                </a:solidFill>
                <a:latin typeface="Microsoft YaHei"/>
                <a:ea typeface="Microsoft YaHei"/>
              </a:rPr>
              <a:t>- **外交壁垒持续强化**：南共市峰会期间，巴拉圭外长公开重申"愿与中国贸易但不放弃台湾"的立场，中方已明确表示"不能接受"。巴西（卢拉）推动南共市对华谈判给巴拉圭带来额外压力，但短期内巴拉圭不会改变对台关系。中国企业仍面临项目审批的非正式壁垒和更高的政治审查风险。</a:t>
            </a:r>
          </a:p>
          <a:p>
            <a:pPr marL="0" algn="l">
              <a:spcBef>
                <a:spcPts val="100"/>
              </a:spcBef>
            </a:pPr>
            <a:r>
              <a:rPr lang="zh-CN" sz="1000" b="0" dirty="0">
                <a:solidFill>
                  <a:srgbClr val="333333"/>
                </a:solidFill>
                <a:latin typeface="Microsoft YaHei"/>
                <a:ea typeface="Microsoft YaHei"/>
              </a:rPr>
              <a:t>- **电信设备供应商排除制度化**：CONATEL通过5G频谱拍卖规则（"贸易互惠"条款）实质性排除华为/中兴，该先例已通过Claro和Nubicom的频谱授予正式执行。新的2.3/3.5GHz招标预计将维持相同规则。这一排除机制可能通过"网络安全"和"供应链安全"话语扩展至其他关键基础设施领域（如数据中心、智慧城市项目）。</a:t>
            </a:r>
          </a:p>
          <a:p>
            <a:pPr marL="0" algn="l">
              <a:spcBef>
                <a:spcPts val="100"/>
              </a:spcBef>
            </a:pPr>
            <a:r>
              <a:rPr lang="zh-CN" sz="1000" b="0" dirty="0">
                <a:solidFill>
                  <a:srgbClr val="333333"/>
                </a:solidFill>
                <a:latin typeface="Microsoft YaHei"/>
                <a:ea typeface="Microsoft YaHei"/>
              </a:rPr>
              <a:t>🟡 **中等优先级：**</a:t>
            </a:r>
          </a:p>
          <a:p>
            <a:pPr marL="0" algn="l">
              <a:spcBef>
                <a:spcPts val="100"/>
              </a:spcBef>
            </a:pPr>
            <a:r>
              <a:rPr lang="zh-CN" sz="1000" b="0" dirty="0">
                <a:solidFill>
                  <a:srgbClr val="333333"/>
                </a:solidFill>
                <a:latin typeface="Microsoft YaHei"/>
                <a:ea typeface="Microsoft YaHei"/>
              </a:rPr>
              <a:t>- **美国-台湾-巴拉圭三角深化**：巴拉圭加入美国主导的"圣地亚哥承诺"、签署SOFA协定、推进Northrop Grumman雷达采购、美台巴三方AI/5G/网络安全合作框架的落地，进一步巩固了排除中国企业的地缘政治架构。在巴拉圭参与的敏感基础设施项目中，中国企业面临的不仅是商业竞争，更是体系性准入壁垒。</a:t>
            </a:r>
          </a:p>
          <a:p>
            <a:pPr marL="0" algn="l">
              <a:spcBef>
                <a:spcPts val="100"/>
              </a:spcBef>
            </a:pPr>
            <a:r>
              <a:rPr lang="zh-CN" sz="1000" b="0" dirty="0">
                <a:solidFill>
                  <a:srgbClr val="333333"/>
                </a:solidFill>
                <a:latin typeface="Microsoft YaHei"/>
                <a:ea typeface="Microsoft YaHei"/>
              </a:rPr>
              <a:t>- **汇率风险**：瓜拉尼同比升值21.9%，已是拉美最强势货币。已在巴拉圭投资的中资企业以瓜拉尼计价的利润折算人民币后大幅缩水，需评估汇率对冲策略。</a:t>
            </a:r>
          </a:p>
          <a:p>
            <a:pPr marL="0" algn="l">
              <a:spcBef>
                <a:spcPts val="100"/>
              </a:spcBef>
            </a:pPr>
            <a:r>
              <a:rPr lang="zh-CN" sz="1000" b="0" dirty="0">
                <a:solidFill>
                  <a:srgbClr val="333333"/>
                </a:solidFill>
                <a:latin typeface="Microsoft YaHei"/>
                <a:ea typeface="Microsoft YaHei"/>
              </a:rPr>
              <a:t>- **财政调整风险**：DNIT上半年税收仅增1.8%，远低于全年13.4%目标。下半年可能出台新的税收征管措施（如强化转让定价审查、进口估值调整），影响中资贸易和投资企业的税务合规成本。</a:t>
            </a:r>
          </a:p>
          <a:p>
            <a:pPr marL="0" algn="l">
              <a:spcBef>
                <a:spcPts val="600"/>
              </a:spcBef>
            </a:pPr>
            <a:r>
              <a:rPr lang="zh-CN" sz="1300" b="1" dirty="0">
                <a:solidFill>
                  <a:srgbClr val="1B3A5C"/>
                </a:solidFill>
                <a:latin typeface="Microsoft YaHei"/>
                <a:ea typeface="Microsoft YaHei"/>
              </a:rPr>
              <a:t>二、机遇分析</a:t>
            </a:r>
          </a:p>
          <a:p>
            <a:pPr marL="0" algn="l">
              <a:spcBef>
                <a:spcPts val="100"/>
              </a:spcBef>
            </a:pPr>
            <a:r>
              <a:rPr lang="zh-CN" sz="1000" b="0" dirty="0">
                <a:solidFill>
                  <a:srgbClr val="333333"/>
                </a:solidFill>
                <a:latin typeface="Microsoft YaHei"/>
                <a:ea typeface="Microsoft YaHei"/>
              </a:rPr>
              <a:t>🟢 **可操作机遇：**</a:t>
            </a:r>
          </a:p>
          <a:p>
            <a:pPr marL="0" algn="l">
              <a:spcBef>
                <a:spcPts val="100"/>
              </a:spcBef>
            </a:pPr>
            <a:r>
              <a:rPr lang="zh-CN" sz="1000" b="0" dirty="0">
                <a:solidFill>
                  <a:srgbClr val="333333"/>
                </a:solidFill>
                <a:latin typeface="Microsoft YaHei"/>
                <a:ea typeface="Microsoft YaHei"/>
              </a:rPr>
              <a:t>- **数字基础设施非设备角色**：尽管电信设备准入受限，但HIVE、台巴AI数据中心、X8 Cloud等项目的落地表明数据中心建设、可再生能源整合、冷却系统、光纤布线、电力设备和工程总承包（EPC）需求旺盛。中国企业可以探索不涉及电信核心设备的配套角色：电气设备供应（变压器、UPS、配电柜）、冷却解决方案、太阳能+储能配套、数据中心建筑工程。</a:t>
            </a:r>
          </a:p>
          <a:p>
            <a:pPr marL="0" algn="l">
              <a:spcBef>
                <a:spcPts val="100"/>
              </a:spcBef>
            </a:pPr>
            <a:r>
              <a:rPr lang="zh-CN" sz="1000" b="0" dirty="0">
                <a:solidFill>
                  <a:srgbClr val="333333"/>
                </a:solidFill>
                <a:latin typeface="Microsoft YaHei"/>
                <a:ea typeface="Microsoft YaHei"/>
              </a:rPr>
              <a:t>- **农业科技与绿色转型**：巴拉圭以大豆和牛肉出口为经济支柱（GDP增长6.6%主要由农业驱动），对精准农业、IoT传感器、供应链数字化、冷链物流技术有强劲需求。中国农业科技企业可在不触发安全审查的领域竞争。</a:t>
            </a:r>
          </a:p>
          <a:p>
            <a:pPr marL="0" algn="l">
              <a:spcBef>
                <a:spcPts val="100"/>
              </a:spcBef>
            </a:pPr>
            <a:r>
              <a:rPr lang="zh-CN" sz="1000" b="0" dirty="0">
                <a:solidFill>
                  <a:srgbClr val="333333"/>
                </a:solidFill>
                <a:latin typeface="Microsoft YaHei"/>
                <a:ea typeface="Microsoft YaHei"/>
              </a:rPr>
              <a:t>- **南共市间接通道**：已在巴西或阿根廷布局的中资企业可利用EU-Mercosur FTA框架获取对欧出口优惠。巴拉圭的配额争议实际上为中资企业提供了观察和影响南共市内部贸易治理的窗口期。</a:t>
            </a:r>
          </a:p>
          <a:p>
            <a:pPr marL="0" algn="l">
              <a:spcBef>
                <a:spcPts val="100"/>
              </a:spcBef>
            </a:pPr>
            <a:r>
              <a:rPr lang="zh-CN" sz="1000" b="0" dirty="0">
                <a:solidFill>
                  <a:srgbClr val="333333"/>
                </a:solidFill>
                <a:latin typeface="Microsoft YaHei"/>
                <a:ea typeface="Microsoft YaHei"/>
              </a:rPr>
              <a:t>- **新能源与Power-to-X**：Decreto 5307/2026为绿氢、氨、甲醇和合成燃料提供美元计价特别电价和长期合同。巴拉圭过剩的水电资源（Itaipu 14,000MW + Yacyretá）为电解水制氢和绿色燃料生产提供了全球最具成本竞争力的能源基础。中国在电解槽制造和绿色甲醇领域的技术积累可在此找到应用场景。</a:t>
            </a:r>
          </a:p>
          <a:p>
            <a:pPr marL="0" algn="l">
              <a:spcBef>
                <a:spcPts val="600"/>
              </a:spcBef>
            </a:pPr>
            <a:r>
              <a:rPr lang="zh-CN" sz="1300" b="1" dirty="0">
                <a:solidFill>
                  <a:srgbClr val="1B3A5C"/>
                </a:solidFill>
                <a:latin typeface="Microsoft YaHei"/>
                <a:ea typeface="Microsoft YaHei"/>
              </a:rPr>
              <a:t>三、战略建议</a:t>
            </a:r>
          </a:p>
          <a:p>
            <a:pPr marL="0" algn="l">
              <a:spcBef>
                <a:spcPts val="100"/>
              </a:spcBef>
            </a:pPr>
            <a:r>
              <a:rPr lang="zh-CN" sz="1000" b="0" dirty="0">
                <a:solidFill>
                  <a:srgbClr val="333333"/>
                </a:solidFill>
                <a:latin typeface="Microsoft YaHei"/>
                <a:ea typeface="Microsoft YaHei"/>
              </a:rPr>
              <a:t>**立即行动：**</a:t>
            </a:r>
          </a:p>
          <a:p>
            <a:pPr marL="0" algn="l">
              <a:spcBef>
                <a:spcPts val="100"/>
              </a:spcBef>
            </a:pPr>
            <a:r>
              <a:rPr lang="zh-CN" sz="1000" b="0" dirty="0">
                <a:solidFill>
                  <a:srgbClr val="333333"/>
                </a:solidFill>
                <a:latin typeface="Microsoft YaHei"/>
                <a:ea typeface="Microsoft YaHei"/>
              </a:rPr>
              <a:t>- 对照7月1日生效的新最低工资标准和移民局第407/2026号决议更新劳动合规和居留文件，确保现有派驻人员和新投资项目符合最新要求。</a:t>
            </a:r>
          </a:p>
          <a:p>
            <a:pPr marL="0" algn="l">
              <a:spcBef>
                <a:spcPts val="100"/>
              </a:spcBef>
            </a:pPr>
            <a:r>
              <a:rPr lang="zh-CN" sz="1000" b="0" dirty="0">
                <a:solidFill>
                  <a:srgbClr val="333333"/>
                </a:solidFill>
                <a:latin typeface="Microsoft YaHei"/>
                <a:ea typeface="Microsoft YaHei"/>
              </a:rPr>
              <a:t>- 评估因瓜拉尼升值21.9%对现有巴拉圭业务以美元/人民币计价的财务影响，考虑是否需要建立汇率对冲机制。</a:t>
            </a:r>
          </a:p>
          <a:p>
            <a:pPr marL="0" algn="l">
              <a:spcBef>
                <a:spcPts val="100"/>
              </a:spcBef>
            </a:pPr>
            <a:r>
              <a:rPr lang="zh-CN" sz="1000" b="0" dirty="0">
                <a:solidFill>
                  <a:srgbClr val="333333"/>
                </a:solidFill>
                <a:latin typeface="Microsoft YaHei"/>
                <a:ea typeface="Microsoft YaHei"/>
              </a:rPr>
              <a:t>**短期（1-3个月）：**</a:t>
            </a:r>
          </a:p>
          <a:p>
            <a:pPr marL="0" algn="l">
              <a:spcBef>
                <a:spcPts val="100"/>
              </a:spcBef>
            </a:pPr>
            <a:r>
              <a:rPr lang="zh-CN" sz="1000" b="0" dirty="0">
                <a:solidFill>
                  <a:srgbClr val="333333"/>
                </a:solidFill>
                <a:latin typeface="Microsoft YaHei"/>
                <a:ea typeface="Microsoft YaHei"/>
              </a:rPr>
              <a:t>- 密切跟踪CONATEL新一轮2.3/3.5GHz频谱招标进展，尽管设备直接准入受限，但关注是否有通过第三方（如欧洲子公司）参与投标或提供配套设备和服务的路径。</a:t>
            </a:r>
          </a:p>
          <a:p>
            <a:pPr marL="0" algn="l">
              <a:spcBef>
                <a:spcPts val="100"/>
              </a:spcBef>
            </a:pPr>
            <a:r>
              <a:rPr lang="zh-CN" sz="1000" b="0" dirty="0">
                <a:solidFill>
                  <a:srgbClr val="333333"/>
                </a:solidFill>
                <a:latin typeface="Microsoft YaHei"/>
                <a:ea typeface="Microsoft YaHei"/>
              </a:rPr>
              <a:t>- 主动对接HIVE Digital、X8 Cloud和台巴AI数据中心项目的基础设施配套需求（电力、冷却、建筑），以非敏感供应商身份参与供应链。</a:t>
            </a:r>
          </a:p>
          <a:p>
            <a:pPr marL="0" algn="l">
              <a:spcBef>
                <a:spcPts val="100"/>
              </a:spcBef>
            </a:pPr>
            <a:r>
              <a:rPr lang="zh-CN" sz="1000" b="0" dirty="0">
                <a:solidFill>
                  <a:srgbClr val="333333"/>
                </a:solidFill>
                <a:latin typeface="Microsoft YaHei"/>
                <a:ea typeface="Microsoft YaHei"/>
              </a:rPr>
              <a:t>- 安排在亚松森的现场政策调研，与MIC（工商部）、AND（国家电力管理局）、MITIC建立直接沟通渠道，及时获取投资政策和电价变动信息。</a:t>
            </a:r>
          </a:p>
          <a:p>
            <a:pPr marL="0" algn="l">
              <a:spcBef>
                <a:spcPts val="100"/>
              </a:spcBef>
            </a:pPr>
            <a:r>
              <a:rPr lang="zh-CN" sz="1000" b="0" dirty="0">
                <a:solidFill>
                  <a:srgbClr val="333333"/>
                </a:solidFill>
                <a:latin typeface="Microsoft YaHei"/>
                <a:ea typeface="Microsoft YaHei"/>
              </a:rPr>
              <a:t>**中期（3-12个月）：**</a:t>
            </a:r>
          </a:p>
          <a:p>
            <a:pPr marL="0" algn="l">
              <a:spcBef>
                <a:spcPts val="100"/>
              </a:spcBef>
            </a:pPr>
            <a:r>
              <a:rPr lang="zh-CN" sz="1000" b="0" dirty="0">
                <a:solidFill>
                  <a:srgbClr val="333333"/>
                </a:solidFill>
                <a:latin typeface="Microsoft YaHei"/>
                <a:ea typeface="Microsoft YaHei"/>
              </a:rPr>
              <a:t>- 研究通过南共市其他国家（巴西/阿根廷）的间接准入策略，利用EU-Mercosur FTA框架实现巴拉圭市场的"曲线进入"。</a:t>
            </a:r>
          </a:p>
          <a:p>
            <a:pPr marL="0" algn="l">
              <a:spcBef>
                <a:spcPts val="100"/>
              </a:spcBef>
            </a:pPr>
            <a:r>
              <a:rPr lang="zh-CN" sz="1000" b="0" dirty="0">
                <a:solidFill>
                  <a:srgbClr val="333333"/>
                </a:solidFill>
                <a:latin typeface="Microsoft YaHei"/>
                <a:ea typeface="Microsoft YaHei"/>
              </a:rPr>
              <a:t>- 评估在绿色氢能和Power-to-X领域的投资可行性，利用Decreto 5307/2026的政策窗口和巴拉圭的能源成本优势。</a:t>
            </a:r>
          </a:p>
          <a:p>
            <a:pPr marL="0" algn="l">
              <a:spcBef>
                <a:spcPts val="100"/>
              </a:spcBef>
            </a:pPr>
            <a:r>
              <a:rPr lang="zh-CN" sz="1000" b="0" dirty="0">
                <a:solidFill>
                  <a:srgbClr val="333333"/>
                </a:solidFill>
                <a:latin typeface="Microsoft YaHei"/>
                <a:ea typeface="Microsoft YaHei"/>
              </a:rPr>
              <a:t>- 持续监测巴拉圭外交政策走向——若未来出现对华关系调整，将为中国企业开辟全新的市场准入格局。建议每季度进行一次巴拉圭宏观政治风险评估更新。</a:t>
            </a:r>
          </a:p>
        </p:txBody>
      </p:sp>
      <p:sp>
        <p:nvSpPr>
          <p:cNvPr id="105" name="Shape105"/>
          <p:cNvSpPr/>
          <p:nvPr/>
        </p:nvSpPr>
        <p:spPr>
          <a:xfrm>
            <a:off x="0" y="6583680"/>
            <a:ext cx="12192000" cy="274320"/>
          </a:xfrm>
          <a:prstGeom prst="rect">
            <a:avLst/>
          </a:prstGeom>
          <a:solidFill>
            <a:srgbClr val="C41230"/>
          </a:solidFill>
          <a:ln>
            <a:noFill/>
          </a:ln>
        </p:spPr>
      </p:sp>
      <p:sp>
        <p:nvSpPr>
          <p:cNvPr id="106" name="TextBox106"/>
          <p:cNvSpPr>
            <a:spLocks noGrp="1"/>
          </p:cNvSpPr>
          <p:nvPr/>
        </p:nvSpPr>
        <p:spPr>
          <a:xfrm>
            <a:off x="10515600" y="6629400"/>
            <a:ext cx="1371600" cy="182880"/>
          </a:xfrm>
          <a:prstGeom prst="rect">
            <a:avLst/>
          </a:prstGeom>
          <a:noFill/>
        </p:spPr>
        <p:txBody>
          <a:bodyPr wrap="square" lIns="0" tIns="0" rIns="0" bIns="0"/>
          <a:p>
            <a:pPr marL="0" algn="r"/>
            <a:r>
              <a:rPr lang="zh-CN" sz="800" b="0" dirty="0">
                <a:solidFill>
                  <a:srgbClr val="888888"/>
                </a:solidFill>
                <a:latin typeface="Microsoft YaHei"/>
                <a:ea typeface="Microsoft YaHei"/>
              </a:rPr>
              <a:t>11 / 12</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hape100"/>
          <p:cNvSpPr/>
          <p:nvPr/>
        </p:nvSpPr>
        <p:spPr>
          <a:xfrm>
            <a:off x="0" y="0"/>
            <a:ext cx="12192000" cy="1005840"/>
          </a:xfrm>
          <a:prstGeom prst="rect">
            <a:avLst/>
          </a:prstGeom>
          <a:solidFill>
            <a:srgbClr val="1B3A5C"/>
          </a:solidFill>
          <a:ln>
            <a:noFill/>
          </a:ln>
        </p:spPr>
      </p:sp>
      <p:sp>
        <p:nvSpPr>
          <p:cNvPr id="101" name="TextBox101"/>
          <p:cNvSpPr>
            <a:spLocks noGrp="1"/>
          </p:cNvSpPr>
          <p:nvPr/>
        </p:nvSpPr>
        <p:spPr>
          <a:xfrm>
            <a:off x="548640" y="137160"/>
            <a:ext cx="10972800" cy="731520"/>
          </a:xfrm>
          <a:prstGeom prst="rect">
            <a:avLst/>
          </a:prstGeom>
          <a:noFill/>
        </p:spPr>
        <p:txBody>
          <a:bodyPr wrap="square" lIns="0" tIns="0" rIns="0" bIns="0"/>
          <a:p>
            <a:pPr marL="0" algn="l"/>
            <a:r>
              <a:rPr lang="zh-CN" sz="2800" b="1" dirty="0">
                <a:solidFill>
                  <a:srgbClr val="FFFFFF"/>
                </a:solidFill>
                <a:latin typeface="SimHei"/>
                <a:ea typeface="SimHei"/>
              </a:rPr>
              <a:t>信息来源</a:t>
            </a:r>
          </a:p>
        </p:txBody>
      </p:sp>
      <p:sp>
        <p:nvSpPr>
          <p:cNvPr id="102" name="TextBox102"/>
          <p:cNvSpPr>
            <a:spLocks noGrp="1"/>
          </p:cNvSpPr>
          <p:nvPr/>
        </p:nvSpPr>
        <p:spPr>
          <a:xfrm>
            <a:off x="731520" y="1097280"/>
            <a:ext cx="10515600" cy="5303520"/>
          </a:xfrm>
          <a:prstGeom prst="rect">
            <a:avLst/>
          </a:prstGeom>
          <a:noFill/>
        </p:spPr>
        <p:txBody>
          <a:bodyPr wrap="square" lIns="0" tIns="0" rIns="0" bIns="0"/>
          <a:p>
            <a:pPr marL="0" algn="l"/>
            <a:r>
              <a:rPr lang="zh-CN" sz="900" b="0" dirty="0">
                <a:solidFill>
                  <a:srgbClr val="888888"/>
                </a:solidFill>
                <a:latin typeface="Microsoft YaHei"/>
                <a:ea typeface="Microsoft YaHei"/>
              </a:rPr>
              <a:t>1. IMF: https://www.imf.org/en/news/articles/2026/06/29/cs-062926-paraguay-imf-staff-concluding-statement-2026-aiv-consultation-mission</a:t>
            </a:r>
          </a:p>
          <a:p>
            <a:pPr marL="0" algn="l">
              <a:spcBef>
                <a:spcPts val="400"/>
              </a:spcBef>
            </a:pPr>
            <a:r>
              <a:rPr lang="zh-CN" sz="900" b="0" dirty="0">
                <a:solidFill>
                  <a:srgbClr val="888888"/>
                </a:solidFill>
                <a:latin typeface="Microsoft YaHei"/>
                <a:ea typeface="Microsoft YaHei"/>
              </a:rPr>
              <a:t>2. Diario HOY: https://www.hoy.com.py/nacionales/2026/07/02/informe-de-pena-2025-vs-2026-crecimiento-economico-empleo-y-seguridad</a:t>
            </a:r>
          </a:p>
          <a:p>
            <a:pPr marL="0" algn="l">
              <a:spcBef>
                <a:spcPts val="400"/>
              </a:spcBef>
            </a:pPr>
            <a:r>
              <a:rPr lang="zh-CN" sz="900" b="0" dirty="0">
                <a:solidFill>
                  <a:srgbClr val="888888"/>
                </a:solidFill>
                <a:latin typeface="Microsoft YaHei"/>
                <a:ea typeface="Microsoft YaHei"/>
              </a:rPr>
              <a:t>3. Itaú BBA / BCP: https://www.itau.com.br/itaubba-pt/analises-economicas/latam/paraguay-bcp-on-hold-again-at-5-50-as-expected</a:t>
            </a:r>
          </a:p>
          <a:p>
            <a:pPr marL="0" algn="l">
              <a:spcBef>
                <a:spcPts val="400"/>
              </a:spcBef>
            </a:pPr>
            <a:r>
              <a:rPr lang="zh-CN" sz="900" b="0" dirty="0">
                <a:solidFill>
                  <a:srgbClr val="888888"/>
                </a:solidFill>
                <a:latin typeface="Microsoft YaHei"/>
                <a:ea typeface="Microsoft YaHei"/>
              </a:rPr>
              <a:t>4. Prensa Mercosur / DNIT: https://prensamercosur.org/2026/07/02/paraguay-la-dnit-cierra-el-primer-semestre-de-2026-con-un-crecimiento-de-18-pero-junio-expone-la-fragilidad-del-modelo-aduanero/</a:t>
            </a:r>
          </a:p>
          <a:p>
            <a:pPr marL="0" algn="l">
              <a:spcBef>
                <a:spcPts val="400"/>
              </a:spcBef>
            </a:pPr>
            <a:r>
              <a:rPr lang="zh-CN" sz="900" b="0" dirty="0">
                <a:solidFill>
                  <a:srgbClr val="888888"/>
                </a:solidFill>
                <a:latin typeface="Microsoft YaHei"/>
                <a:ea typeface="Microsoft YaHei"/>
              </a:rPr>
              <a:t>5. RCC / Presidencia [政府官网]: https://rcc.com.py/nacionales/pena-destaca-que-la-estabilidad-politica-permitio-aprobar-164-leyes-y-avanzar-en-reformas-historicas-para-el-paraguay/</a:t>
            </a:r>
          </a:p>
          <a:p>
            <a:pPr marL="0" algn="l">
              <a:spcBef>
                <a:spcPts val="400"/>
              </a:spcBef>
            </a:pPr>
            <a:r>
              <a:rPr lang="zh-CN" sz="900" b="0" dirty="0">
                <a:solidFill>
                  <a:srgbClr val="888888"/>
                </a:solidFill>
                <a:latin typeface="Microsoft YaHei"/>
                <a:ea typeface="Microsoft YaHei"/>
              </a:rPr>
              <a:t>6. ADN Digital: https://www.adndigital.com.py/paraguay-y-chile-sellan-acuerdo-tributario-para-impulsar-inversiones-y-evitar-doble-imposicion/</a:t>
            </a:r>
          </a:p>
          <a:p>
            <a:pPr marL="0" algn="l">
              <a:spcBef>
                <a:spcPts val="400"/>
              </a:spcBef>
            </a:pPr>
            <a:r>
              <a:rPr lang="zh-CN" sz="900" b="0" dirty="0">
                <a:solidFill>
                  <a:srgbClr val="888888"/>
                </a:solidFill>
                <a:latin typeface="Microsoft YaHei"/>
                <a:ea typeface="Microsoft YaHei"/>
              </a:rPr>
              <a:t>7. Marcasur / Congreso [政府官网]: https://marcasur.com/en/noticia/paraguay-opens-its-railway-sector-to-international-capital&amp;f=07-2026</a:t>
            </a:r>
          </a:p>
          <a:p>
            <a:pPr marL="0" algn="l">
              <a:spcBef>
                <a:spcPts val="400"/>
              </a:spcBef>
            </a:pPr>
            <a:r>
              <a:rPr lang="zh-CN" sz="900" b="0" dirty="0">
                <a:solidFill>
                  <a:srgbClr val="888888"/>
                </a:solidFill>
                <a:latin typeface="Microsoft YaHei"/>
                <a:ea typeface="Microsoft YaHei"/>
              </a:rPr>
              <a:t>8. Diario HOY: https://www.hoy.com.py/nacionales/2026/07/01/pena-destaca-que-desempleo-baja-al-36-y-el-salario-minimo-logra-aumento-historico</a:t>
            </a:r>
          </a:p>
          <a:p>
            <a:pPr marL="0" algn="l">
              <a:spcBef>
                <a:spcPts val="400"/>
              </a:spcBef>
            </a:pPr>
            <a:r>
              <a:rPr lang="zh-CN" sz="900" b="0" dirty="0">
                <a:solidFill>
                  <a:srgbClr val="888888"/>
                </a:solidFill>
                <a:latin typeface="Microsoft YaHei"/>
                <a:ea typeface="Microsoft YaHei"/>
              </a:rPr>
              <a:t>9. EFE / Agencia IP [政府官网]: https://efe.com/mundo/chile-jose-antonio-kast-visita-paraguay/</a:t>
            </a:r>
          </a:p>
          <a:p>
            <a:pPr marL="0" algn="l">
              <a:spcBef>
                <a:spcPts val="400"/>
              </a:spcBef>
            </a:pPr>
            <a:r>
              <a:rPr lang="zh-CN" sz="900" b="0" dirty="0">
                <a:solidFill>
                  <a:srgbClr val="888888"/>
                </a:solidFill>
                <a:latin typeface="Microsoft YaHei"/>
                <a:ea typeface="Microsoft YaHei"/>
              </a:rPr>
              <a:t>10. MisionesOnline / Agencia IP [政府官网]: https://misionesonline.net/2026/07/01/paraguay-se-quejo-por-las-exportaciones-a-la-ue/</a:t>
            </a:r>
          </a:p>
          <a:p>
            <a:pPr marL="0" algn="l">
              <a:spcBef>
                <a:spcPts val="400"/>
              </a:spcBef>
            </a:pPr>
            <a:r>
              <a:rPr lang="zh-CN" sz="900" b="0" dirty="0">
                <a:solidFill>
                  <a:srgbClr val="888888"/>
                </a:solidFill>
                <a:latin typeface="Microsoft YaHei"/>
                <a:ea typeface="Microsoft YaHei"/>
              </a:rPr>
              <a:t>11. La Nación: https://www.lanacion.com.py/politica/2026/07/01/mercosur-paraguay-ratifica-disposicion-a-negociar-con-china-pero-mantiene-como-limite-su-vinculo-con-taiwan/</a:t>
            </a:r>
          </a:p>
          <a:p>
            <a:pPr marL="0" algn="l">
              <a:spcBef>
                <a:spcPts val="400"/>
              </a:spcBef>
            </a:pPr>
            <a:r>
              <a:rPr lang="zh-CN" sz="900" b="0" dirty="0">
                <a:solidFill>
                  <a:srgbClr val="888888"/>
                </a:solidFill>
                <a:latin typeface="Microsoft YaHei"/>
                <a:ea typeface="Microsoft YaHei"/>
              </a:rPr>
              <a:t>12. Agencia IP [政府官网]: https://www.ip.gov.py/ip/2026/06/17/paraguay-and-taiwan-strengthen-cooperation-and-strategic-partnership/</a:t>
            </a:r>
          </a:p>
          <a:p>
            <a:pPr marL="0" algn="l">
              <a:spcBef>
                <a:spcPts val="400"/>
              </a:spcBef>
            </a:pPr>
            <a:r>
              <a:rPr lang="zh-CN" sz="900" b="0" dirty="0">
                <a:solidFill>
                  <a:srgbClr val="888888"/>
                </a:solidFill>
                <a:latin typeface="Microsoft YaHei"/>
                <a:ea typeface="Microsoft YaHei"/>
              </a:rPr>
              <a:t>13. Agencia IP / USTR [政府官网]: https://www.ip.gov.py/ip/2026/06/15/pena-discusses-investment-agenda-and-hemispheric-security-with-u-s-secretary-of-state/</a:t>
            </a:r>
          </a:p>
          <a:p>
            <a:pPr marL="0" algn="l">
              <a:spcBef>
                <a:spcPts val="400"/>
              </a:spcBef>
            </a:pPr>
            <a:r>
              <a:rPr lang="zh-CN" sz="900" b="0" dirty="0">
                <a:solidFill>
                  <a:srgbClr val="888888"/>
                </a:solidFill>
                <a:latin typeface="Microsoft YaHei"/>
                <a:ea typeface="Microsoft YaHei"/>
              </a:rPr>
              <a:t>14. GMA Labs / CONATEL [政府官网]: https://www.gmalabs.com/post/paraguay-conatel-mobile-broadband-consultation-2026-opens-for-key-spectrum-bands</a:t>
            </a:r>
          </a:p>
          <a:p>
            <a:pPr marL="0" algn="l">
              <a:spcBef>
                <a:spcPts val="400"/>
              </a:spcBef>
            </a:pPr>
            <a:r>
              <a:rPr lang="zh-CN" sz="900" b="0" dirty="0">
                <a:solidFill>
                  <a:srgbClr val="888888"/>
                </a:solidFill>
                <a:latin typeface="Microsoft YaHei"/>
                <a:ea typeface="Microsoft YaHei"/>
              </a:rPr>
              <a:t>15. Proactive Investors / HIVE (NASDAQ): https://www.proactiveinvestors.com/companies/news/1085923/hive-digital-expands-into-paraguay-with-buzz-cloud-ai-platform-launch.html</a:t>
            </a:r>
          </a:p>
          <a:p>
            <a:pPr marL="0" algn="l">
              <a:spcBef>
                <a:spcPts val="400"/>
              </a:spcBef>
            </a:pPr>
            <a:r>
              <a:rPr lang="zh-CN" sz="900" b="0" dirty="0">
                <a:solidFill>
                  <a:srgbClr val="888888"/>
                </a:solidFill>
                <a:latin typeface="Microsoft YaHei"/>
                <a:ea typeface="Microsoft YaHei"/>
              </a:rPr>
              <a:t>16. Agencia IP [政府官网]: https://www.ip.gov.py/ip/2026/05/14/alliance-with-taiwan-positions-paraguay-in-the-global-race-for-ai-development-pena-highlights/</a:t>
            </a:r>
          </a:p>
          <a:p>
            <a:pPr marL="0" algn="l">
              <a:spcBef>
                <a:spcPts val="400"/>
              </a:spcBef>
            </a:pPr>
            <a:r>
              <a:rPr lang="zh-CN" sz="900" b="0" dirty="0">
                <a:solidFill>
                  <a:srgbClr val="888888"/>
                </a:solidFill>
                <a:latin typeface="Microsoft YaHei"/>
                <a:ea typeface="Microsoft YaHei"/>
              </a:rPr>
              <a:t>17. DPL News / MITIC [政府官网]: https://dplnews.com/paraguay-tercer-informe-presidencial-destaca-al-mitic-como-actor-clave-en-la-transformacion-digital/</a:t>
            </a:r>
          </a:p>
          <a:p>
            <a:pPr marL="0" algn="l">
              <a:spcBef>
                <a:spcPts val="400"/>
              </a:spcBef>
            </a:pPr>
            <a:r>
              <a:rPr lang="zh-CN" sz="900" b="0" dirty="0">
                <a:solidFill>
                  <a:srgbClr val="888888"/>
                </a:solidFill>
                <a:latin typeface="Microsoft YaHei"/>
                <a:ea typeface="Microsoft YaHei"/>
              </a:rPr>
              <a:t>18. BNamericas: https://www.bnamericas.com/en/news/paraguay-greenlights-claro-and-nubicom-to-ignite-5g-race</a:t>
            </a:r>
          </a:p>
          <a:p>
            <a:pPr marL="0" algn="l">
              <a:spcBef>
                <a:spcPts val="400"/>
              </a:spcBef>
            </a:pPr>
            <a:r>
              <a:rPr lang="zh-CN" sz="900" b="0" dirty="0">
                <a:solidFill>
                  <a:srgbClr val="888888"/>
                </a:solidFill>
                <a:latin typeface="Microsoft YaHei"/>
                <a:ea typeface="Microsoft YaHei"/>
              </a:rPr>
              <a:t>19. BID Invest / BNamericas: https://idbinvest.org/en/news-media/idb-invest-and-proparco-partner-millicom-expand-digital-infrastructure-across-latin</a:t>
            </a:r>
          </a:p>
          <a:p>
            <a:pPr marL="0" algn="l">
              <a:spcBef>
                <a:spcPts val="400"/>
              </a:spcBef>
            </a:pPr>
            <a:r>
              <a:rPr lang="zh-CN" sz="900" b="0" dirty="0">
                <a:solidFill>
                  <a:srgbClr val="888888"/>
                </a:solidFill>
                <a:latin typeface="Microsoft YaHei"/>
                <a:ea typeface="Microsoft YaHei"/>
              </a:rPr>
              <a:t>20. DataCenterDynamics / BNamericas: https://www.datacenterdynamics.com/en/news/?tag=nubicom</a:t>
            </a:r>
          </a:p>
          <a:p>
            <a:pPr marL="0" algn="l">
              <a:spcBef>
                <a:spcPts val="1600"/>
              </a:spcBef>
            </a:pPr>
            <a:r>
              <a:rPr lang="zh-CN" sz="900" b="0" dirty="0">
                <a:solidFill>
                  <a:srgbClr val="888888"/>
                </a:solidFill>
                <a:latin typeface="Microsoft YaHei"/>
                <a:ea typeface="Microsoft YaHei"/>
              </a:rPr>
              <a:t>权威信息源：巴拉圭财政部(hacienda.gov.py)、巴拉圭中央银行(bcp.gov.py)、ABC Color(abc.com.py)、Última Hora(ultimahora.com)、Reuters(reuters.com)等。</a:t>
            </a:r>
          </a:p>
        </p:txBody>
      </p:sp>
      <p:sp>
        <p:nvSpPr>
          <p:cNvPr id="103" name="Shape103"/>
          <p:cNvSpPr/>
          <p:nvPr/>
        </p:nvSpPr>
        <p:spPr>
          <a:xfrm>
            <a:off x="0" y="6583680"/>
            <a:ext cx="12192000" cy="274320"/>
          </a:xfrm>
          <a:prstGeom prst="rect">
            <a:avLst/>
          </a:prstGeom>
          <a:solidFill>
            <a:srgbClr val="C41230"/>
          </a:solidFill>
          <a:ln>
            <a:noFill/>
          </a:ln>
        </p:spPr>
      </p:sp>
      <p:sp>
        <p:nvSpPr>
          <p:cNvPr id="104" name="TextBox104"/>
          <p:cNvSpPr>
            <a:spLocks noGrp="1"/>
          </p:cNvSpPr>
          <p:nvPr/>
        </p:nvSpPr>
        <p:spPr>
          <a:xfrm>
            <a:off x="10515600" y="6629400"/>
            <a:ext cx="1371600" cy="182880"/>
          </a:xfrm>
          <a:prstGeom prst="rect">
            <a:avLst/>
          </a:prstGeom>
          <a:noFill/>
        </p:spPr>
        <p:txBody>
          <a:bodyPr wrap="square" lIns="0" tIns="0" rIns="0" bIns="0"/>
          <a:p>
            <a:pPr marL="0" algn="r"/>
            <a:r>
              <a:rPr lang="zh-CN" sz="800" b="0" dirty="0">
                <a:solidFill>
                  <a:srgbClr val="888888"/>
                </a:solidFill>
                <a:latin typeface="Microsoft YaHei"/>
                <a:ea typeface="Microsoft YaHei"/>
              </a:rPr>
              <a:t>12 / 12</a:t>
            </a:r>
          </a:p>
        </p:txBody>
      </p:sp>
    </p:spTree>
  </p:cSld>
</p:sld>
</file>

<file path=ppt/theme/theme1.xml><?xml version="1.0" encoding="utf-8"?>
<a:theme xmlns:a="http://schemas.openxmlformats.org/drawingml/2006/main" name="Paraguay Theme">
  <a:themeElements>
    <a:clrScheme name="Paraguay">
      <a:dk1>
        <a:srgbClr val="000000"/>
      </a:dk1>
      <a:lt1>
        <a:srgbClr val="FFFFFF"/>
      </a:lt1>
      <a:dk2>
        <a:srgbClr val="1B3A5C"/>
      </a:dk2>
      <a:lt2>
        <a:srgbClr val="F2F5F8"/>
      </a:lt2>
      <a:accent1>
        <a:srgbClr val="1B3A5C"/>
      </a:accent1>
      <a:accent2>
        <a:srgbClr val="C41230"/>
      </a:accent2>
      <a:accent3>
        <a:srgbClr val="4A7FB5"/>
      </a:accent3>
      <a:accent4>
        <a:srgbClr val="D4A843"/>
      </a:accent4>
      <a:accent5>
        <a:srgbClr val="6BAB5E"/>
      </a:accent5>
      <a:accent6>
        <a:srgbClr val="8B65A1"/>
      </a:accent6>
      <a:hlink>
        <a:srgbClr val="1B3A5C"/>
      </a:hlink>
      <a:folHlink>
        <a:srgbClr val="888888"/>
      </a:folHlink>
    </a:clrScheme>
    <a:fontScheme name="Paraguay">
      <a:majorFont>
        <a:latin typeface="Calibri"/>
        <a:ea typeface="SimHei"/>
      </a:majorFont>
      <a:minorFont>
        <a:latin typeface="Calibri"/>
        <a:ea typeface="Microsoft YaHei"/>
      </a:minorFont>
    </a:fontScheme>
    <a:fmtScheme name="Paraguay">
      <a:fillStyleLst>
        <a:solidFill>
          <a:srgbClr val="FFFFFF"/>
        </a:solidFill>
        <a:solidFill>
          <a:srgbClr val="1B3A5C"/>
        </a:solidFill>
        <a:solidFill>
          <a:srgbClr val="F2F5F8"/>
        </a:solidFill>
      </a:fillStyleLst>
      <a:lnStyleLst>
        <a:ln w="12700">
          <a:solidFill>
            <a:srgbClr val="1B3A5C"/>
          </a:solidFill>
        </a:ln>
        <a:ln w="6350">
          <a:solidFill>
            <a:srgbClr val="C41230"/>
          </a:solidFill>
        </a:ln>
        <a:ln w="6350">
          <a:solidFill>
            <a:srgbClr val="888888"/>
          </a:solidFill>
        </a:ln>
      </a:lnStyleLst>
      <a:effectStyleLst>
        <a:effectStyle>
          <a:effectLst/>
        </a:effectStyle>
        <a:effectStyle>
          <a:effectLst/>
        </a:effectStyle>
        <a:effectStyle>
          <a:effectLst/>
        </a:effectStyle>
      </a:effectStyleLst>
      <a:bgFillStyleLst>
        <a:solidFill>
          <a:srgbClr val="FFFFFF"/>
        </a:solidFill>
        <a:solidFill>
          <a:srgbClr val="F2F5F8"/>
        </a:solidFill>
        <a:solidFill>
          <a:srgbClr val="1B3A5C"/>
        </a:solidFill>
      </a:bgFillStyleLst>
    </a:fmtScheme>
  </a:themeElements>
</a:theme>
</file>

<file path=docProps/app.xml><?xml version="1.0" encoding="utf-8"?>
<Properties xmlns="http://schemas.openxmlformats.org/officeDocument/2006/extended-properties">
  <Application>Paraguay Research Briefing Tool</Application>
  <Slides>0</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巴拉圭简报 - 巴拉圭宏观环境调研简报</dc:title>
  <dc:subject>June 27 – July 4, 2026 Paraguay Macro Research Briefing</dc:subject>
  <dc:creator>Paraguay Research Briefing Tool</dc:creator>
  <cp:lastModifiedBy>Paraguay Research Briefing Tool</cp:lastModifiedBy>
  <dcterms:created xsi:type="dcterms:W3CDTF">2026-07-04T15:02:20Z</dcterms:created>
  <dcterms:modified xsi:type="dcterms:W3CDTF">2026-07-04T15:02:20Z</dcterms:modified>
</cp:coreProperties>
</file>